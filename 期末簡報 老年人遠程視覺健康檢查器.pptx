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7" r:id="rId3"/>
    <p:sldId id="259" r:id="rId4"/>
    <p:sldId id="263" r:id="rId5"/>
    <p:sldId id="260" r:id="rId6"/>
    <p:sldId id="264" r:id="rId7"/>
    <p:sldId id="261" r:id="rId8"/>
    <p:sldId id="262" r:id="rId9"/>
    <p:sldId id="266" r:id="rId10"/>
    <p:sldId id="265" r:id="rId11"/>
    <p:sldId id="268"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056" autoAdjust="0"/>
  </p:normalViewPr>
  <p:slideViewPr>
    <p:cSldViewPr snapToGrid="0">
      <p:cViewPr varScale="1">
        <p:scale>
          <a:sx n="87" d="100"/>
          <a:sy n="87" d="100"/>
        </p:scale>
        <p:origin x="1512"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72F1C0-CF71-4F34-B0C0-3061CEF767C8}"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4AB0B836-1F7C-4379-98EF-546AFA250964}">
      <dgm:prSet/>
      <dgm:spPr/>
      <dgm:t>
        <a:bodyPr/>
        <a:lstStyle/>
        <a:p>
          <a:r>
            <a:rPr lang="en-US" b="1" dirty="0"/>
            <a:t>Alerts</a:t>
          </a:r>
          <a:r>
            <a:rPr lang="zh-TW" dirty="0"/>
            <a:t>：</a:t>
          </a:r>
          <a:r>
            <a:rPr lang="en-US" dirty="0"/>
            <a:t>Used to flag </a:t>
          </a:r>
          <a:r>
            <a:rPr lang="en-US" b="1" dirty="0"/>
            <a:t>high-risk findings</a:t>
          </a:r>
          <a:r>
            <a:rPr lang="en-US" dirty="0"/>
            <a:t>, such as facial asymmetry (suspected stroke) or dry tongue coating.</a:t>
          </a:r>
        </a:p>
      </dgm:t>
    </dgm:pt>
    <dgm:pt modelId="{6ED9C77C-A3E7-42C2-806A-C571B5ACB58F}" type="parTrans" cxnId="{6F58641F-B485-4F55-B4AF-62447C425C02}">
      <dgm:prSet/>
      <dgm:spPr/>
      <dgm:t>
        <a:bodyPr/>
        <a:lstStyle/>
        <a:p>
          <a:endParaRPr lang="en-US"/>
        </a:p>
      </dgm:t>
    </dgm:pt>
    <dgm:pt modelId="{BF917E2E-A89E-4701-8D4A-3B26306E6A78}" type="sibTrans" cxnId="{6F58641F-B485-4F55-B4AF-62447C425C02}">
      <dgm:prSet/>
      <dgm:spPr/>
      <dgm:t>
        <a:bodyPr/>
        <a:lstStyle/>
        <a:p>
          <a:endParaRPr lang="en-US"/>
        </a:p>
      </dgm:t>
    </dgm:pt>
    <dgm:pt modelId="{19367A06-E0C1-4896-AC23-A27403AFAAC4}">
      <dgm:prSet/>
      <dgm:spPr/>
      <dgm:t>
        <a:bodyPr/>
        <a:lstStyle/>
        <a:p>
          <a:r>
            <a:rPr lang="en-US" b="1" dirty="0"/>
            <a:t>Warnings : medium-to-low-risk </a:t>
          </a:r>
          <a:r>
            <a:rPr lang="en-US" b="1" dirty="0" err="1"/>
            <a:t>findings,such</a:t>
          </a:r>
          <a:r>
            <a:rPr lang="en-US" b="1" dirty="0"/>
            <a:t> as skin color changes or thick to</a:t>
          </a:r>
          <a:endParaRPr lang="en-US" dirty="0"/>
        </a:p>
      </dgm:t>
    </dgm:pt>
    <dgm:pt modelId="{9C74A20F-58EE-40DF-97FE-569FAE832B5B}" type="parTrans" cxnId="{139A5372-73D7-45CD-AAFF-259E4F21BDEB}">
      <dgm:prSet/>
      <dgm:spPr/>
      <dgm:t>
        <a:bodyPr/>
        <a:lstStyle/>
        <a:p>
          <a:endParaRPr lang="en-US"/>
        </a:p>
      </dgm:t>
    </dgm:pt>
    <dgm:pt modelId="{1A5C3850-6BD3-4DDA-9F5A-E25EACD92DAD}" type="sibTrans" cxnId="{139A5372-73D7-45CD-AAFF-259E4F21BDEB}">
      <dgm:prSet/>
      <dgm:spPr/>
      <dgm:t>
        <a:bodyPr/>
        <a:lstStyle/>
        <a:p>
          <a:endParaRPr lang="en-US"/>
        </a:p>
      </dgm:t>
    </dgm:pt>
    <dgm:pt modelId="{ECC10D0A-452D-4695-A069-074B44697CE7}">
      <dgm:prSet/>
      <dgm:spPr/>
      <dgm:t>
        <a:bodyPr/>
        <a:lstStyle/>
        <a:p>
          <a:r>
            <a:rPr lang="en-US" altLang="zh-TW" dirty="0"/>
            <a:t>Output Format: Detailed analysis data and the summary will be saved as a JSON file </a:t>
          </a:r>
          <a:endParaRPr lang="en-US" dirty="0"/>
        </a:p>
      </dgm:t>
    </dgm:pt>
    <dgm:pt modelId="{49DABF96-DEBD-46F5-80C3-52692DD9747C}" type="parTrans" cxnId="{9FE3C8A5-3037-4F22-9F5C-4DCABFA9EC6B}">
      <dgm:prSet/>
      <dgm:spPr/>
      <dgm:t>
        <a:bodyPr/>
        <a:lstStyle/>
        <a:p>
          <a:endParaRPr lang="en-US"/>
        </a:p>
      </dgm:t>
    </dgm:pt>
    <dgm:pt modelId="{530CEAE2-A13A-48AB-B502-5BA691506F5F}" type="sibTrans" cxnId="{9FE3C8A5-3037-4F22-9F5C-4DCABFA9EC6B}">
      <dgm:prSet/>
      <dgm:spPr/>
      <dgm:t>
        <a:bodyPr/>
        <a:lstStyle/>
        <a:p>
          <a:endParaRPr lang="en-US"/>
        </a:p>
      </dgm:t>
    </dgm:pt>
    <dgm:pt modelId="{FC029D84-54CA-4D7F-B872-EFE1BAAB98B5}" type="pres">
      <dgm:prSet presAssocID="{7C72F1C0-CF71-4F34-B0C0-3061CEF767C8}" presName="hierChild1" presStyleCnt="0">
        <dgm:presLayoutVars>
          <dgm:chPref val="1"/>
          <dgm:dir/>
          <dgm:animOne val="branch"/>
          <dgm:animLvl val="lvl"/>
          <dgm:resizeHandles/>
        </dgm:presLayoutVars>
      </dgm:prSet>
      <dgm:spPr/>
    </dgm:pt>
    <dgm:pt modelId="{D3BBA923-E90B-46C0-9020-6A1862EE1765}" type="pres">
      <dgm:prSet presAssocID="{4AB0B836-1F7C-4379-98EF-546AFA250964}" presName="hierRoot1" presStyleCnt="0"/>
      <dgm:spPr/>
    </dgm:pt>
    <dgm:pt modelId="{CB8CE599-914E-47C8-8779-1555FFECC35D}" type="pres">
      <dgm:prSet presAssocID="{4AB0B836-1F7C-4379-98EF-546AFA250964}" presName="composite" presStyleCnt="0"/>
      <dgm:spPr/>
    </dgm:pt>
    <dgm:pt modelId="{D35F115C-0D20-4CE6-BBCA-D6ECAE8F58DB}" type="pres">
      <dgm:prSet presAssocID="{4AB0B836-1F7C-4379-98EF-546AFA250964}" presName="background" presStyleLbl="node0" presStyleIdx="0" presStyleCnt="3"/>
      <dgm:spPr/>
    </dgm:pt>
    <dgm:pt modelId="{F481E145-D3D1-4FE7-A57D-20233604733B}" type="pres">
      <dgm:prSet presAssocID="{4AB0B836-1F7C-4379-98EF-546AFA250964}" presName="text" presStyleLbl="fgAcc0" presStyleIdx="0" presStyleCnt="3">
        <dgm:presLayoutVars>
          <dgm:chPref val="3"/>
        </dgm:presLayoutVars>
      </dgm:prSet>
      <dgm:spPr/>
    </dgm:pt>
    <dgm:pt modelId="{AA04B2F2-786D-44EA-8855-C8A6DFDAAF16}" type="pres">
      <dgm:prSet presAssocID="{4AB0B836-1F7C-4379-98EF-546AFA250964}" presName="hierChild2" presStyleCnt="0"/>
      <dgm:spPr/>
    </dgm:pt>
    <dgm:pt modelId="{A156DD08-D273-4F5A-A2FE-74BD5AF6ED13}" type="pres">
      <dgm:prSet presAssocID="{19367A06-E0C1-4896-AC23-A27403AFAAC4}" presName="hierRoot1" presStyleCnt="0"/>
      <dgm:spPr/>
    </dgm:pt>
    <dgm:pt modelId="{05DE96E5-DC4F-4545-B3BE-C078AD60CA82}" type="pres">
      <dgm:prSet presAssocID="{19367A06-E0C1-4896-AC23-A27403AFAAC4}" presName="composite" presStyleCnt="0"/>
      <dgm:spPr/>
    </dgm:pt>
    <dgm:pt modelId="{B2856CD0-CD30-4573-8B7A-8309B847A5AD}" type="pres">
      <dgm:prSet presAssocID="{19367A06-E0C1-4896-AC23-A27403AFAAC4}" presName="background" presStyleLbl="node0" presStyleIdx="1" presStyleCnt="3"/>
      <dgm:spPr/>
    </dgm:pt>
    <dgm:pt modelId="{3DBC935E-BDAE-42DC-8483-041BB06599D2}" type="pres">
      <dgm:prSet presAssocID="{19367A06-E0C1-4896-AC23-A27403AFAAC4}" presName="text" presStyleLbl="fgAcc0" presStyleIdx="1" presStyleCnt="3">
        <dgm:presLayoutVars>
          <dgm:chPref val="3"/>
        </dgm:presLayoutVars>
      </dgm:prSet>
      <dgm:spPr/>
    </dgm:pt>
    <dgm:pt modelId="{A2DCA919-60FD-4E0E-B160-490F235E0E0C}" type="pres">
      <dgm:prSet presAssocID="{19367A06-E0C1-4896-AC23-A27403AFAAC4}" presName="hierChild2" presStyleCnt="0"/>
      <dgm:spPr/>
    </dgm:pt>
    <dgm:pt modelId="{FC8EECCC-9A79-43B3-92D6-49D2088AAF37}" type="pres">
      <dgm:prSet presAssocID="{ECC10D0A-452D-4695-A069-074B44697CE7}" presName="hierRoot1" presStyleCnt="0"/>
      <dgm:spPr/>
    </dgm:pt>
    <dgm:pt modelId="{3EF0829D-9555-427D-B30C-5470E142784C}" type="pres">
      <dgm:prSet presAssocID="{ECC10D0A-452D-4695-A069-074B44697CE7}" presName="composite" presStyleCnt="0"/>
      <dgm:spPr/>
    </dgm:pt>
    <dgm:pt modelId="{8E6B7FCE-21AC-41F3-B211-069238F26DA6}" type="pres">
      <dgm:prSet presAssocID="{ECC10D0A-452D-4695-A069-074B44697CE7}" presName="background" presStyleLbl="node0" presStyleIdx="2" presStyleCnt="3"/>
      <dgm:spPr/>
    </dgm:pt>
    <dgm:pt modelId="{3F1CC574-E878-4A78-98E8-D6EE881D3356}" type="pres">
      <dgm:prSet presAssocID="{ECC10D0A-452D-4695-A069-074B44697CE7}" presName="text" presStyleLbl="fgAcc0" presStyleIdx="2" presStyleCnt="3">
        <dgm:presLayoutVars>
          <dgm:chPref val="3"/>
        </dgm:presLayoutVars>
      </dgm:prSet>
      <dgm:spPr/>
    </dgm:pt>
    <dgm:pt modelId="{2D8D6BC0-F951-417C-BB32-29A0B8B08C1A}" type="pres">
      <dgm:prSet presAssocID="{ECC10D0A-452D-4695-A069-074B44697CE7}" presName="hierChild2" presStyleCnt="0"/>
      <dgm:spPr/>
    </dgm:pt>
  </dgm:ptLst>
  <dgm:cxnLst>
    <dgm:cxn modelId="{6F58641F-B485-4F55-B4AF-62447C425C02}" srcId="{7C72F1C0-CF71-4F34-B0C0-3061CEF767C8}" destId="{4AB0B836-1F7C-4379-98EF-546AFA250964}" srcOrd="0" destOrd="0" parTransId="{6ED9C77C-A3E7-42C2-806A-C571B5ACB58F}" sibTransId="{BF917E2E-A89E-4701-8D4A-3B26306E6A78}"/>
    <dgm:cxn modelId="{9B39E23D-5D67-4E6D-9FCF-F43E0AA62B50}" type="presOf" srcId="{4AB0B836-1F7C-4379-98EF-546AFA250964}" destId="{F481E145-D3D1-4FE7-A57D-20233604733B}" srcOrd="0" destOrd="0" presId="urn:microsoft.com/office/officeart/2005/8/layout/hierarchy1"/>
    <dgm:cxn modelId="{F6D40D6A-4381-4C1C-84DF-843AF36BC1E8}" type="presOf" srcId="{19367A06-E0C1-4896-AC23-A27403AFAAC4}" destId="{3DBC935E-BDAE-42DC-8483-041BB06599D2}" srcOrd="0" destOrd="0" presId="urn:microsoft.com/office/officeart/2005/8/layout/hierarchy1"/>
    <dgm:cxn modelId="{139A5372-73D7-45CD-AAFF-259E4F21BDEB}" srcId="{7C72F1C0-CF71-4F34-B0C0-3061CEF767C8}" destId="{19367A06-E0C1-4896-AC23-A27403AFAAC4}" srcOrd="1" destOrd="0" parTransId="{9C74A20F-58EE-40DF-97FE-569FAE832B5B}" sibTransId="{1A5C3850-6BD3-4DDA-9F5A-E25EACD92DAD}"/>
    <dgm:cxn modelId="{921D1D79-9DDA-4030-A4C1-E2C3E6D29F01}" type="presOf" srcId="{7C72F1C0-CF71-4F34-B0C0-3061CEF767C8}" destId="{FC029D84-54CA-4D7F-B872-EFE1BAAB98B5}" srcOrd="0" destOrd="0" presId="urn:microsoft.com/office/officeart/2005/8/layout/hierarchy1"/>
    <dgm:cxn modelId="{9FE3C8A5-3037-4F22-9F5C-4DCABFA9EC6B}" srcId="{7C72F1C0-CF71-4F34-B0C0-3061CEF767C8}" destId="{ECC10D0A-452D-4695-A069-074B44697CE7}" srcOrd="2" destOrd="0" parTransId="{49DABF96-DEBD-46F5-80C3-52692DD9747C}" sibTransId="{530CEAE2-A13A-48AB-B502-5BA691506F5F}"/>
    <dgm:cxn modelId="{D0D75DCF-D3B3-4C98-9B84-5158F49C2A0C}" type="presOf" srcId="{ECC10D0A-452D-4695-A069-074B44697CE7}" destId="{3F1CC574-E878-4A78-98E8-D6EE881D3356}" srcOrd="0" destOrd="0" presId="urn:microsoft.com/office/officeart/2005/8/layout/hierarchy1"/>
    <dgm:cxn modelId="{BE6A9062-4224-4F3A-916B-F4BC7ACCE351}" type="presParOf" srcId="{FC029D84-54CA-4D7F-B872-EFE1BAAB98B5}" destId="{D3BBA923-E90B-46C0-9020-6A1862EE1765}" srcOrd="0" destOrd="0" presId="urn:microsoft.com/office/officeart/2005/8/layout/hierarchy1"/>
    <dgm:cxn modelId="{02481374-CE88-4FBC-8387-4FC0E52D7F46}" type="presParOf" srcId="{D3BBA923-E90B-46C0-9020-6A1862EE1765}" destId="{CB8CE599-914E-47C8-8779-1555FFECC35D}" srcOrd="0" destOrd="0" presId="urn:microsoft.com/office/officeart/2005/8/layout/hierarchy1"/>
    <dgm:cxn modelId="{86943C4F-EB71-44C3-8020-65961BCF91DF}" type="presParOf" srcId="{CB8CE599-914E-47C8-8779-1555FFECC35D}" destId="{D35F115C-0D20-4CE6-BBCA-D6ECAE8F58DB}" srcOrd="0" destOrd="0" presId="urn:microsoft.com/office/officeart/2005/8/layout/hierarchy1"/>
    <dgm:cxn modelId="{73C5B695-29CD-4DAA-A4F3-371CE6D5DA3D}" type="presParOf" srcId="{CB8CE599-914E-47C8-8779-1555FFECC35D}" destId="{F481E145-D3D1-4FE7-A57D-20233604733B}" srcOrd="1" destOrd="0" presId="urn:microsoft.com/office/officeart/2005/8/layout/hierarchy1"/>
    <dgm:cxn modelId="{EF7DF6EB-D40D-4B5D-A9F0-24FFA258A533}" type="presParOf" srcId="{D3BBA923-E90B-46C0-9020-6A1862EE1765}" destId="{AA04B2F2-786D-44EA-8855-C8A6DFDAAF16}" srcOrd="1" destOrd="0" presId="urn:microsoft.com/office/officeart/2005/8/layout/hierarchy1"/>
    <dgm:cxn modelId="{065659A4-CF78-45B6-91E3-37F6F80E0106}" type="presParOf" srcId="{FC029D84-54CA-4D7F-B872-EFE1BAAB98B5}" destId="{A156DD08-D273-4F5A-A2FE-74BD5AF6ED13}" srcOrd="1" destOrd="0" presId="urn:microsoft.com/office/officeart/2005/8/layout/hierarchy1"/>
    <dgm:cxn modelId="{EB0C7B82-D292-4F9E-9A44-F5032E042831}" type="presParOf" srcId="{A156DD08-D273-4F5A-A2FE-74BD5AF6ED13}" destId="{05DE96E5-DC4F-4545-B3BE-C078AD60CA82}" srcOrd="0" destOrd="0" presId="urn:microsoft.com/office/officeart/2005/8/layout/hierarchy1"/>
    <dgm:cxn modelId="{482342FF-8B2B-45C8-B72A-878E0F133FAF}" type="presParOf" srcId="{05DE96E5-DC4F-4545-B3BE-C078AD60CA82}" destId="{B2856CD0-CD30-4573-8B7A-8309B847A5AD}" srcOrd="0" destOrd="0" presId="urn:microsoft.com/office/officeart/2005/8/layout/hierarchy1"/>
    <dgm:cxn modelId="{178BCC0F-8D6A-4C46-81FA-95B71360C24D}" type="presParOf" srcId="{05DE96E5-DC4F-4545-B3BE-C078AD60CA82}" destId="{3DBC935E-BDAE-42DC-8483-041BB06599D2}" srcOrd="1" destOrd="0" presId="urn:microsoft.com/office/officeart/2005/8/layout/hierarchy1"/>
    <dgm:cxn modelId="{6EB56382-7D3E-4F68-B97D-240E5CF6502D}" type="presParOf" srcId="{A156DD08-D273-4F5A-A2FE-74BD5AF6ED13}" destId="{A2DCA919-60FD-4E0E-B160-490F235E0E0C}" srcOrd="1" destOrd="0" presId="urn:microsoft.com/office/officeart/2005/8/layout/hierarchy1"/>
    <dgm:cxn modelId="{7CE4218F-68FE-429B-907C-1C0142766282}" type="presParOf" srcId="{FC029D84-54CA-4D7F-B872-EFE1BAAB98B5}" destId="{FC8EECCC-9A79-43B3-92D6-49D2088AAF37}" srcOrd="2" destOrd="0" presId="urn:microsoft.com/office/officeart/2005/8/layout/hierarchy1"/>
    <dgm:cxn modelId="{B900C4F2-B839-42BB-A03A-F3AD225088E1}" type="presParOf" srcId="{FC8EECCC-9A79-43B3-92D6-49D2088AAF37}" destId="{3EF0829D-9555-427D-B30C-5470E142784C}" srcOrd="0" destOrd="0" presId="urn:microsoft.com/office/officeart/2005/8/layout/hierarchy1"/>
    <dgm:cxn modelId="{7BCB70C9-0016-4FB1-A027-D9B2E100E968}" type="presParOf" srcId="{3EF0829D-9555-427D-B30C-5470E142784C}" destId="{8E6B7FCE-21AC-41F3-B211-069238F26DA6}" srcOrd="0" destOrd="0" presId="urn:microsoft.com/office/officeart/2005/8/layout/hierarchy1"/>
    <dgm:cxn modelId="{4D92790A-9001-410F-8805-702F67102222}" type="presParOf" srcId="{3EF0829D-9555-427D-B30C-5470E142784C}" destId="{3F1CC574-E878-4A78-98E8-D6EE881D3356}" srcOrd="1" destOrd="0" presId="urn:microsoft.com/office/officeart/2005/8/layout/hierarchy1"/>
    <dgm:cxn modelId="{77130802-C54B-4D67-B615-8BA598444C51}" type="presParOf" srcId="{FC8EECCC-9A79-43B3-92D6-49D2088AAF37}" destId="{2D8D6BC0-F951-417C-BB32-29A0B8B08C1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F115C-0D20-4CE6-BBCA-D6ECAE8F58DB}">
      <dsp:nvSpPr>
        <dsp:cNvPr id="0" name=""/>
        <dsp:cNvSpPr/>
      </dsp:nvSpPr>
      <dsp:spPr>
        <a:xfrm>
          <a:off x="0"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81E145-D3D1-4FE7-A57D-20233604733B}">
      <dsp:nvSpPr>
        <dsp:cNvPr id="0" name=""/>
        <dsp:cNvSpPr/>
      </dsp:nvSpPr>
      <dsp:spPr>
        <a:xfrm>
          <a:off x="324326"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Alerts</a:t>
          </a:r>
          <a:r>
            <a:rPr lang="zh-TW" sz="2000" kern="1200" dirty="0"/>
            <a:t>：</a:t>
          </a:r>
          <a:r>
            <a:rPr lang="en-US" sz="2000" kern="1200" dirty="0"/>
            <a:t>Used to flag </a:t>
          </a:r>
          <a:r>
            <a:rPr lang="en-US" sz="2000" b="1" kern="1200" dirty="0"/>
            <a:t>high-risk findings</a:t>
          </a:r>
          <a:r>
            <a:rPr lang="en-US" sz="2000" kern="1200" dirty="0"/>
            <a:t>, such as facial asymmetry (suspected stroke) or dry tongue coating.</a:t>
          </a:r>
        </a:p>
      </dsp:txBody>
      <dsp:txXfrm>
        <a:off x="378614" y="886531"/>
        <a:ext cx="2810360" cy="1744948"/>
      </dsp:txXfrm>
    </dsp:sp>
    <dsp:sp modelId="{B2856CD0-CD30-4573-8B7A-8309B847A5AD}">
      <dsp:nvSpPr>
        <dsp:cNvPr id="0" name=""/>
        <dsp:cNvSpPr/>
      </dsp:nvSpPr>
      <dsp:spPr>
        <a:xfrm>
          <a:off x="3567588"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BC935E-BDAE-42DC-8483-041BB06599D2}">
      <dsp:nvSpPr>
        <dsp:cNvPr id="0" name=""/>
        <dsp:cNvSpPr/>
      </dsp:nvSpPr>
      <dsp:spPr>
        <a:xfrm>
          <a:off x="3891915"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Warnings : medium-to-low-risk </a:t>
          </a:r>
          <a:r>
            <a:rPr lang="en-US" sz="2000" b="1" kern="1200" dirty="0" err="1"/>
            <a:t>findings,such</a:t>
          </a:r>
          <a:r>
            <a:rPr lang="en-US" sz="2000" b="1" kern="1200" dirty="0"/>
            <a:t> as skin color changes or thick to</a:t>
          </a:r>
          <a:endParaRPr lang="en-US" sz="2000" kern="1200" dirty="0"/>
        </a:p>
      </dsp:txBody>
      <dsp:txXfrm>
        <a:off x="3946203" y="886531"/>
        <a:ext cx="2810360" cy="1744948"/>
      </dsp:txXfrm>
    </dsp:sp>
    <dsp:sp modelId="{8E6B7FCE-21AC-41F3-B211-069238F26DA6}">
      <dsp:nvSpPr>
        <dsp:cNvPr id="0" name=""/>
        <dsp:cNvSpPr/>
      </dsp:nvSpPr>
      <dsp:spPr>
        <a:xfrm>
          <a:off x="7135177"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1CC574-E878-4A78-98E8-D6EE881D3356}">
      <dsp:nvSpPr>
        <dsp:cNvPr id="0" name=""/>
        <dsp:cNvSpPr/>
      </dsp:nvSpPr>
      <dsp:spPr>
        <a:xfrm>
          <a:off x="7459503"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TW" sz="2000" kern="1200" dirty="0"/>
            <a:t>Output Format: Detailed analysis data and the summary will be saved as a JSON file </a:t>
          </a:r>
          <a:endParaRPr lang="en-US" sz="2000" kern="1200" dirty="0"/>
        </a:p>
      </dsp:txBody>
      <dsp:txXfrm>
        <a:off x="7513791" y="886531"/>
        <a:ext cx="2810360" cy="174494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8B41B8-A60E-45C1-8ED7-C935817AB5B1}" type="datetimeFigureOut">
              <a:rPr lang="zh-TW" altLang="en-US" smtClean="0"/>
              <a:t>2025/12/17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282E42-DC96-4927-9AFB-865816045E3A}" type="slidenum">
              <a:rPr lang="zh-TW" altLang="en-US" smtClean="0"/>
              <a:t>‹#›</a:t>
            </a:fld>
            <a:endParaRPr lang="zh-TW" altLang="en-US"/>
          </a:p>
        </p:txBody>
      </p:sp>
    </p:spTree>
    <p:extLst>
      <p:ext uri="{BB962C8B-B14F-4D97-AF65-F5344CB8AC3E}">
        <p14:creationId xmlns:p14="http://schemas.microsoft.com/office/powerpoint/2010/main" val="41183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Our project introduces a </a:t>
            </a:r>
            <a:r>
              <a:rPr lang="en-US" altLang="zh-TW" b="1" dirty="0"/>
              <a:t>Python-based visual health checker</a:t>
            </a:r>
            <a:r>
              <a:rPr lang="en-US" altLang="zh-TW" dirty="0"/>
              <a:t> for the elderly. By analyzing facial and tongue indicators,</a:t>
            </a:r>
          </a:p>
          <a:p>
            <a:r>
              <a:rPr lang="en-US" altLang="zh-TW" dirty="0"/>
              <a:t> It is composed of three Python modules.</a:t>
            </a:r>
          </a:p>
        </p:txBody>
      </p:sp>
      <p:sp>
        <p:nvSpPr>
          <p:cNvPr id="4" name="投影片編號版面配置區 3"/>
          <p:cNvSpPr>
            <a:spLocks noGrp="1"/>
          </p:cNvSpPr>
          <p:nvPr>
            <p:ph type="sldNum" sz="quarter" idx="5"/>
          </p:nvPr>
        </p:nvSpPr>
        <p:spPr/>
        <p:txBody>
          <a:bodyPr/>
          <a:lstStyle/>
          <a:p>
            <a:fld id="{8D282E42-DC96-4927-9AFB-865816045E3A}" type="slidenum">
              <a:rPr lang="zh-TW" altLang="en-US" smtClean="0"/>
              <a:t>2</a:t>
            </a:fld>
            <a:endParaRPr lang="zh-TW" altLang="en-US"/>
          </a:p>
        </p:txBody>
      </p:sp>
    </p:spTree>
    <p:extLst>
      <p:ext uri="{BB962C8B-B14F-4D97-AF65-F5344CB8AC3E}">
        <p14:creationId xmlns:p14="http://schemas.microsoft.com/office/powerpoint/2010/main" val="2838805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dirty="0"/>
              <a:t>wellness_checker.py</a:t>
            </a:r>
            <a:r>
              <a:rPr lang="en-US" altLang="zh-TW" dirty="0"/>
              <a:t> responsible for integrating analysis results , </a:t>
            </a:r>
            <a:r>
              <a:rPr lang="en-US" altLang="zh-TW" b="1" dirty="0"/>
              <a:t>face_analyzer.py</a:t>
            </a:r>
            <a:r>
              <a:rPr lang="en-US" altLang="zh-TW" dirty="0"/>
              <a:t> focusing on facial feature analysis , and </a:t>
            </a:r>
            <a:r>
              <a:rPr lang="en-US" altLang="zh-TW" b="1" dirty="0"/>
              <a:t>tongue_analyzer.py</a:t>
            </a:r>
            <a:r>
              <a:rPr lang="en-US" altLang="zh-TW" dirty="0"/>
              <a:t> used for tongue-related indicator checks.</a:t>
            </a:r>
            <a:endParaRPr lang="zh-TW" altLang="en-US" dirty="0"/>
          </a:p>
        </p:txBody>
      </p:sp>
      <p:sp>
        <p:nvSpPr>
          <p:cNvPr id="4" name="投影片編號版面配置區 3"/>
          <p:cNvSpPr>
            <a:spLocks noGrp="1"/>
          </p:cNvSpPr>
          <p:nvPr>
            <p:ph type="sldNum" sz="quarter" idx="5"/>
          </p:nvPr>
        </p:nvSpPr>
        <p:spPr/>
        <p:txBody>
          <a:bodyPr/>
          <a:lstStyle/>
          <a:p>
            <a:fld id="{8D282E42-DC96-4927-9AFB-865816045E3A}" type="slidenum">
              <a:rPr lang="zh-TW" altLang="en-US" smtClean="0"/>
              <a:t>3</a:t>
            </a:fld>
            <a:endParaRPr lang="zh-TW" altLang="en-US"/>
          </a:p>
        </p:txBody>
      </p:sp>
    </p:spTree>
    <p:extLst>
      <p:ext uri="{BB962C8B-B14F-4D97-AF65-F5344CB8AC3E}">
        <p14:creationId xmlns:p14="http://schemas.microsoft.com/office/powerpoint/2010/main" val="3695240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dirty="0"/>
              <a:t>Eye Aspect Ratio (EAR)</a:t>
            </a:r>
            <a:r>
              <a:rPr lang="en-US" altLang="zh-TW" dirty="0"/>
              <a:t> is applied to </a:t>
            </a:r>
            <a:r>
              <a:rPr lang="en-US" altLang="zh-TW" b="1" dirty="0"/>
              <a:t>fatigue detection</a:t>
            </a:r>
            <a:r>
              <a:rPr lang="en-US" altLang="zh-TW" dirty="0"/>
              <a:t> and </a:t>
            </a:r>
            <a:r>
              <a:rPr lang="en-US" altLang="zh-TW" b="1" dirty="0"/>
              <a:t>blink rate calculation</a:t>
            </a:r>
            <a:r>
              <a:rPr lang="en-US" altLang="zh-TW" dirty="0"/>
              <a:t>.</a:t>
            </a:r>
          </a:p>
          <a:p>
            <a:r>
              <a:rPr lang="en-US" altLang="zh-TW" b="1" dirty="0"/>
              <a:t>Color Space Analysis</a:t>
            </a:r>
            <a:r>
              <a:rPr lang="en-US" altLang="zh-TW" dirty="0"/>
              <a:t> is applied to </a:t>
            </a:r>
            <a:r>
              <a:rPr lang="en-US" altLang="zh-TW" b="1" dirty="0"/>
              <a:t>skin color change detection</a:t>
            </a:r>
            <a:r>
              <a:rPr lang="en-US" altLang="zh-TW" dirty="0"/>
              <a:t>.</a:t>
            </a:r>
          </a:p>
          <a:p>
            <a:r>
              <a:rPr lang="en-US" altLang="zh-TW" b="1" dirty="0"/>
              <a:t>Geometric Symmetry</a:t>
            </a:r>
            <a:r>
              <a:rPr lang="en-US" altLang="zh-TW" dirty="0"/>
              <a:t> is applied to </a:t>
            </a:r>
            <a:r>
              <a:rPr lang="en-US" altLang="zh-TW" b="1" dirty="0"/>
              <a:t>facial asymmetry detection</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8D282E42-DC96-4927-9AFB-865816045E3A}" type="slidenum">
              <a:rPr lang="zh-TW" altLang="en-US" smtClean="0"/>
              <a:t>4</a:t>
            </a:fld>
            <a:endParaRPr lang="zh-TW" altLang="en-US"/>
          </a:p>
        </p:txBody>
      </p:sp>
    </p:spTree>
    <p:extLst>
      <p:ext uri="{BB962C8B-B14F-4D97-AF65-F5344CB8AC3E}">
        <p14:creationId xmlns:p14="http://schemas.microsoft.com/office/powerpoint/2010/main" val="2930330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We calculate the </a:t>
            </a:r>
            <a:r>
              <a:rPr lang="en-US" altLang="zh-TW" b="1" dirty="0"/>
              <a:t>Eye Aspect Ratio (EAR)</a:t>
            </a:r>
            <a:r>
              <a:rPr lang="en-US" altLang="zh-TW" dirty="0"/>
              <a:t> to determine if the person is a </a:t>
            </a:r>
            <a:r>
              <a:rPr lang="en-US" altLang="zh-TW" b="1" dirty="0"/>
              <a:t>lack of sleep or physical discomfort</a:t>
            </a:r>
            <a:r>
              <a:rPr lang="en-US" altLang="zh-TW" dirty="0"/>
              <a:t>. </a:t>
            </a:r>
          </a:p>
          <a:p>
            <a:r>
              <a:rPr lang="en-US" altLang="zh-TW" dirty="0"/>
              <a:t>we analyze the </a:t>
            </a:r>
            <a:r>
              <a:rPr lang="en-US" altLang="zh-TW" b="1" dirty="0"/>
              <a:t>average RGB values, saturation, and lightness</a:t>
            </a:r>
            <a:r>
              <a:rPr lang="en-US" altLang="zh-TW" dirty="0"/>
              <a:t> of the </a:t>
            </a:r>
            <a:r>
              <a:rPr lang="en-US" altLang="zh-TW" b="1" dirty="0"/>
              <a:t>cheek and lip areas</a:t>
            </a:r>
            <a:r>
              <a:rPr lang="en-US" altLang="zh-TW" dirty="0"/>
              <a:t> to detect </a:t>
            </a:r>
            <a:r>
              <a:rPr lang="en-US" altLang="zh-TW" b="1" dirty="0"/>
              <a:t>skin color changes</a:t>
            </a:r>
            <a:endParaRPr lang="en-US" altLang="zh-TW" dirty="0"/>
          </a:p>
          <a:p>
            <a:r>
              <a:rPr lang="en-US" altLang="zh-TW" dirty="0"/>
              <a:t>We check the position of the eyebrows to determine if the </a:t>
            </a:r>
            <a:r>
              <a:rPr lang="en-US" altLang="zh-TW" b="1" dirty="0"/>
              <a:t>person</a:t>
            </a:r>
            <a:r>
              <a:rPr lang="en-US" altLang="zh-TW" dirty="0"/>
              <a:t> is experiencing </a:t>
            </a:r>
            <a:r>
              <a:rPr lang="en-US" altLang="zh-TW" b="1" dirty="0"/>
              <a:t>physical discomfort or pain</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fld id="{8D282E42-DC96-4927-9AFB-865816045E3A}" type="slidenum">
              <a:rPr lang="zh-TW" altLang="en-US" smtClean="0"/>
              <a:t>5</a:t>
            </a:fld>
            <a:endParaRPr lang="zh-TW" altLang="en-US"/>
          </a:p>
        </p:txBody>
      </p:sp>
    </p:spTree>
    <p:extLst>
      <p:ext uri="{BB962C8B-B14F-4D97-AF65-F5344CB8AC3E}">
        <p14:creationId xmlns:p14="http://schemas.microsoft.com/office/powerpoint/2010/main" val="3066305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solidFill>
                  <a:srgbClr val="1F1F1F"/>
                </a:solidFill>
                <a:effectLst/>
                <a:latin typeface="Google Sans Text"/>
              </a:rPr>
              <a:t>Region Extraction</a:t>
            </a:r>
            <a:r>
              <a:rPr lang="en-US" altLang="zh-TW" sz="1200" dirty="0">
                <a:solidFill>
                  <a:srgbClr val="1F1F1F"/>
                </a:solidFill>
                <a:effectLst/>
                <a:latin typeface="Google Sans Text"/>
              </a:rPr>
              <a:t>  </a:t>
            </a:r>
            <a:r>
              <a:rPr lang="en-US" altLang="zh-TW" dirty="0"/>
              <a:t>is applied to </a:t>
            </a:r>
            <a:r>
              <a:rPr lang="en-US" altLang="zh-TW" sz="1200" dirty="0">
                <a:solidFill>
                  <a:srgbClr val="1F1F1F"/>
                </a:solidFill>
                <a:effectLst/>
                <a:latin typeface="Google Sans Text"/>
              </a:rPr>
              <a:t>Tongue color, coating, and moisture analysis</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solidFill>
                  <a:srgbClr val="1F1F1F"/>
                </a:solidFill>
                <a:effectLst/>
                <a:latin typeface="Google Sans Text"/>
              </a:rPr>
              <a:t>Tongue Coating Detection</a:t>
            </a:r>
            <a:r>
              <a:rPr lang="en-US" altLang="zh-TW" sz="1200" dirty="0">
                <a:solidFill>
                  <a:srgbClr val="1F1F1F"/>
                </a:solidFill>
                <a:effectLst/>
                <a:latin typeface="Google Sans Text"/>
              </a:rPr>
              <a:t>  </a:t>
            </a:r>
            <a:r>
              <a:rPr lang="en-US" altLang="zh-TW" dirty="0"/>
              <a:t>is applied to </a:t>
            </a:r>
            <a:r>
              <a:rPr lang="en-US" altLang="zh-TW" sz="1200" dirty="0">
                <a:solidFill>
                  <a:srgbClr val="1F1F1F"/>
                </a:solidFill>
                <a:effectLst/>
                <a:latin typeface="Google Sans Text"/>
              </a:rPr>
              <a:t>Judgment of tongue coating thickness</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a:solidFill>
                  <a:srgbClr val="1F1F1F"/>
                </a:solidFill>
                <a:effectLst/>
                <a:latin typeface="Google Sans Text"/>
              </a:rPr>
              <a:t>Moisture Assessment</a:t>
            </a:r>
            <a:r>
              <a:rPr lang="en-US" altLang="zh-TW" sz="1200">
                <a:solidFill>
                  <a:srgbClr val="1F1F1F"/>
                </a:solidFill>
                <a:effectLst/>
                <a:latin typeface="Google Sans Text"/>
              </a:rPr>
              <a:t> </a:t>
            </a:r>
            <a:r>
              <a:rPr lang="en-US" altLang="zh-TW"/>
              <a:t>is </a:t>
            </a:r>
            <a:r>
              <a:rPr lang="en-US" altLang="zh-TW" dirty="0"/>
              <a:t>applied to </a:t>
            </a:r>
            <a:r>
              <a:rPr lang="en-US" altLang="zh-TW" sz="1200" dirty="0">
                <a:solidFill>
                  <a:srgbClr val="1F1F1F"/>
                </a:solidFill>
                <a:effectLst/>
                <a:latin typeface="Google Sans Text"/>
              </a:rPr>
              <a:t>Evaluation of tongue dryness</a:t>
            </a:r>
            <a:r>
              <a:rPr lang="en-US" altLang="zh-TW" dirty="0"/>
              <a:t>.</a:t>
            </a:r>
          </a:p>
          <a:p>
            <a:endParaRPr lang="zh-TW" altLang="en-US" dirty="0"/>
          </a:p>
        </p:txBody>
      </p:sp>
      <p:sp>
        <p:nvSpPr>
          <p:cNvPr id="4" name="投影片編號版面配置區 3"/>
          <p:cNvSpPr>
            <a:spLocks noGrp="1"/>
          </p:cNvSpPr>
          <p:nvPr>
            <p:ph type="sldNum" sz="quarter" idx="5"/>
          </p:nvPr>
        </p:nvSpPr>
        <p:spPr/>
        <p:txBody>
          <a:bodyPr/>
          <a:lstStyle/>
          <a:p>
            <a:fld id="{8D282E42-DC96-4927-9AFB-865816045E3A}" type="slidenum">
              <a:rPr lang="zh-TW" altLang="en-US" smtClean="0"/>
              <a:t>6</a:t>
            </a:fld>
            <a:endParaRPr lang="zh-TW" altLang="en-US"/>
          </a:p>
        </p:txBody>
      </p:sp>
    </p:spTree>
    <p:extLst>
      <p:ext uri="{BB962C8B-B14F-4D97-AF65-F5344CB8AC3E}">
        <p14:creationId xmlns:p14="http://schemas.microsoft.com/office/powerpoint/2010/main" val="1813827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We analyze the </a:t>
            </a:r>
            <a:r>
              <a:rPr lang="en-US" altLang="zh-TW" b="1" dirty="0"/>
              <a:t>average RGB values, saturation, and lightness</a:t>
            </a:r>
            <a:r>
              <a:rPr lang="en-US" altLang="zh-TW" dirty="0"/>
              <a:t> of the tongue region to determine the </a:t>
            </a:r>
            <a:r>
              <a:rPr lang="en-US" altLang="zh-TW" b="1" dirty="0"/>
              <a:t>tongue coating color</a:t>
            </a:r>
            <a:r>
              <a:rPr lang="en-US" altLang="zh-TW" dirty="0"/>
              <a:t>.</a:t>
            </a:r>
            <a:br>
              <a:rPr lang="en-US" altLang="zh-TW" dirty="0"/>
            </a:br>
            <a:r>
              <a:rPr lang="en-US" altLang="zh-TW" dirty="0"/>
              <a:t>We assess the </a:t>
            </a:r>
            <a:r>
              <a:rPr lang="en-US" altLang="zh-TW" b="1" dirty="0"/>
              <a:t>tongue coating thickness</a:t>
            </a:r>
            <a:r>
              <a:rPr lang="en-US" altLang="zh-TW" dirty="0"/>
              <a:t> based on </a:t>
            </a:r>
            <a:r>
              <a:rPr lang="en-US" altLang="zh-TW" b="1" dirty="0"/>
              <a:t>Brightness, Saturation</a:t>
            </a:r>
          </a:p>
          <a:p>
            <a:r>
              <a:rPr lang="en-US" altLang="zh-TW" dirty="0"/>
              <a:t>We evaluate tongue surface moisture by calculating the </a:t>
            </a:r>
            <a:r>
              <a:rPr lang="en-US" altLang="zh-TW" b="1" dirty="0"/>
              <a:t>contrast</a:t>
            </a:r>
            <a:r>
              <a:rPr lang="en-US" altLang="zh-TW" dirty="0"/>
              <a:t> and the </a:t>
            </a:r>
            <a:r>
              <a:rPr lang="en-US" altLang="zh-TW" b="1" dirty="0"/>
              <a:t>proportion of high-brightness pixels</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fld id="{8D282E42-DC96-4927-9AFB-865816045E3A}" type="slidenum">
              <a:rPr lang="zh-TW" altLang="en-US" smtClean="0"/>
              <a:t>7</a:t>
            </a:fld>
            <a:endParaRPr lang="zh-TW" altLang="en-US"/>
          </a:p>
        </p:txBody>
      </p:sp>
    </p:spTree>
    <p:extLst>
      <p:ext uri="{BB962C8B-B14F-4D97-AF65-F5344CB8AC3E}">
        <p14:creationId xmlns:p14="http://schemas.microsoft.com/office/powerpoint/2010/main" val="687449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D282E42-DC96-4927-9AFB-865816045E3A}" type="slidenum">
              <a:rPr lang="zh-TW" altLang="en-US" smtClean="0"/>
              <a:t>10</a:t>
            </a:fld>
            <a:endParaRPr lang="zh-TW" altLang="en-US"/>
          </a:p>
        </p:txBody>
      </p:sp>
    </p:spTree>
    <p:extLst>
      <p:ext uri="{BB962C8B-B14F-4D97-AF65-F5344CB8AC3E}">
        <p14:creationId xmlns:p14="http://schemas.microsoft.com/office/powerpoint/2010/main" val="2828646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FBBE08-C4AD-FED0-8A72-5DCEA5F9CDA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2C6DCF6D-4E36-3477-E6EC-E24046A5A6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19B50E8A-FBC5-ABB4-7B69-AE4EDC132313}"/>
              </a:ext>
            </a:extLst>
          </p:cNvPr>
          <p:cNvSpPr>
            <a:spLocks noGrp="1"/>
          </p:cNvSpPr>
          <p:nvPr>
            <p:ph type="dt" sz="half" idx="10"/>
          </p:nvPr>
        </p:nvSpPr>
        <p:spPr/>
        <p:txBody>
          <a:bodyPr/>
          <a:lstStyle/>
          <a:p>
            <a:fld id="{3E7B085C-4146-4C3B-9548-E6D3E736F496}" type="datetimeFigureOut">
              <a:rPr lang="zh-TW" altLang="en-US" smtClean="0"/>
              <a:t>2025/12/17</a:t>
            </a:fld>
            <a:endParaRPr lang="zh-TW" altLang="en-US"/>
          </a:p>
        </p:txBody>
      </p:sp>
      <p:sp>
        <p:nvSpPr>
          <p:cNvPr id="5" name="頁尾版面配置區 4">
            <a:extLst>
              <a:ext uri="{FF2B5EF4-FFF2-40B4-BE49-F238E27FC236}">
                <a16:creationId xmlns:a16="http://schemas.microsoft.com/office/drawing/2014/main" id="{FCEB0BD8-252A-F1C8-603B-D65EBCF5D5C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8161048-4AB7-8479-3E1B-2ED00BC4161E}"/>
              </a:ext>
            </a:extLst>
          </p:cNvPr>
          <p:cNvSpPr>
            <a:spLocks noGrp="1"/>
          </p:cNvSpPr>
          <p:nvPr>
            <p:ph type="sldNum" sz="quarter" idx="12"/>
          </p:nvPr>
        </p:nvSpPr>
        <p:spPr/>
        <p:txBody>
          <a:body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281168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DA8C13-28F3-BEBD-4D36-BD634AF9533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32F2711-937E-587A-7D3E-446182C7FC6D}"/>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E98D528-FACD-4A13-9895-A48DD2992618}"/>
              </a:ext>
            </a:extLst>
          </p:cNvPr>
          <p:cNvSpPr>
            <a:spLocks noGrp="1"/>
          </p:cNvSpPr>
          <p:nvPr>
            <p:ph type="dt" sz="half" idx="10"/>
          </p:nvPr>
        </p:nvSpPr>
        <p:spPr/>
        <p:txBody>
          <a:bodyPr/>
          <a:lstStyle/>
          <a:p>
            <a:fld id="{3E7B085C-4146-4C3B-9548-E6D3E736F496}" type="datetimeFigureOut">
              <a:rPr lang="zh-TW" altLang="en-US" smtClean="0"/>
              <a:t>2025/12/17</a:t>
            </a:fld>
            <a:endParaRPr lang="zh-TW" altLang="en-US"/>
          </a:p>
        </p:txBody>
      </p:sp>
      <p:sp>
        <p:nvSpPr>
          <p:cNvPr id="5" name="頁尾版面配置區 4">
            <a:extLst>
              <a:ext uri="{FF2B5EF4-FFF2-40B4-BE49-F238E27FC236}">
                <a16:creationId xmlns:a16="http://schemas.microsoft.com/office/drawing/2014/main" id="{52A881CD-D7D1-2D30-79D8-203D95C697D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431D4CB-6AFC-2C50-57B5-C22F98D0E07C}"/>
              </a:ext>
            </a:extLst>
          </p:cNvPr>
          <p:cNvSpPr>
            <a:spLocks noGrp="1"/>
          </p:cNvSpPr>
          <p:nvPr>
            <p:ph type="sldNum" sz="quarter" idx="12"/>
          </p:nvPr>
        </p:nvSpPr>
        <p:spPr/>
        <p:txBody>
          <a:body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845116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D8314D-7327-FBC9-D045-2CBE5349091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6BFE1F3-EECE-3ACD-7F82-BE5FBB25FD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AEEA205-9E2C-FE15-EC1A-81F5439E611F}"/>
              </a:ext>
            </a:extLst>
          </p:cNvPr>
          <p:cNvSpPr>
            <a:spLocks noGrp="1"/>
          </p:cNvSpPr>
          <p:nvPr>
            <p:ph type="dt" sz="half" idx="10"/>
          </p:nvPr>
        </p:nvSpPr>
        <p:spPr/>
        <p:txBody>
          <a:bodyPr/>
          <a:lstStyle/>
          <a:p>
            <a:fld id="{3E7B085C-4146-4C3B-9548-E6D3E736F496}" type="datetimeFigureOut">
              <a:rPr lang="zh-TW" altLang="en-US" smtClean="0"/>
              <a:t>2025/12/17</a:t>
            </a:fld>
            <a:endParaRPr lang="zh-TW" altLang="en-US"/>
          </a:p>
        </p:txBody>
      </p:sp>
      <p:sp>
        <p:nvSpPr>
          <p:cNvPr id="5" name="頁尾版面配置區 4">
            <a:extLst>
              <a:ext uri="{FF2B5EF4-FFF2-40B4-BE49-F238E27FC236}">
                <a16:creationId xmlns:a16="http://schemas.microsoft.com/office/drawing/2014/main" id="{D9CB57B7-1D9D-4C06-1F67-A9024EE260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B73E9A1-7E2E-4C3B-4355-C4705D978CB4}"/>
              </a:ext>
            </a:extLst>
          </p:cNvPr>
          <p:cNvSpPr>
            <a:spLocks noGrp="1"/>
          </p:cNvSpPr>
          <p:nvPr>
            <p:ph type="sldNum" sz="quarter" idx="12"/>
          </p:nvPr>
        </p:nvSpPr>
        <p:spPr/>
        <p:txBody>
          <a:body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57036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21A958-D5EC-E674-9174-31008F23B394}"/>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A7F1E56-BAF0-9C18-400F-ADC1AE005BD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BC7F42BD-BA08-2327-4800-A4E0AD84E734}"/>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C79C65D-89E8-F79F-40A1-C6783844E8B7}"/>
              </a:ext>
            </a:extLst>
          </p:cNvPr>
          <p:cNvSpPr>
            <a:spLocks noGrp="1"/>
          </p:cNvSpPr>
          <p:nvPr>
            <p:ph type="dt" sz="half" idx="10"/>
          </p:nvPr>
        </p:nvSpPr>
        <p:spPr/>
        <p:txBody>
          <a:bodyPr/>
          <a:lstStyle/>
          <a:p>
            <a:fld id="{3E7B085C-4146-4C3B-9548-E6D3E736F496}" type="datetimeFigureOut">
              <a:rPr lang="zh-TW" altLang="en-US" smtClean="0"/>
              <a:t>2025/12/17</a:t>
            </a:fld>
            <a:endParaRPr lang="zh-TW" altLang="en-US"/>
          </a:p>
        </p:txBody>
      </p:sp>
      <p:sp>
        <p:nvSpPr>
          <p:cNvPr id="6" name="頁尾版面配置區 5">
            <a:extLst>
              <a:ext uri="{FF2B5EF4-FFF2-40B4-BE49-F238E27FC236}">
                <a16:creationId xmlns:a16="http://schemas.microsoft.com/office/drawing/2014/main" id="{18B7B49F-5E08-0ABA-F063-FB025D2C760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FE6297B-4DBE-A149-9BD0-45CD87A08D96}"/>
              </a:ext>
            </a:extLst>
          </p:cNvPr>
          <p:cNvSpPr>
            <a:spLocks noGrp="1"/>
          </p:cNvSpPr>
          <p:nvPr>
            <p:ph type="sldNum" sz="quarter" idx="12"/>
          </p:nvPr>
        </p:nvSpPr>
        <p:spPr/>
        <p:txBody>
          <a:body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3179759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35DC73-A1B5-4D7B-B875-EDEE03597C0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9A53F5AC-63DA-D49E-2674-D2FBB2A597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5179384F-AC4F-4F93-4C30-583E56244ABF}"/>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9D48DC88-7F2D-FA69-2D3F-8C924E5BDE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6CE1D2CA-2163-8202-346C-3A45322D194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C56DEBA9-69F7-3C6A-8D07-055C9F16C5C2}"/>
              </a:ext>
            </a:extLst>
          </p:cNvPr>
          <p:cNvSpPr>
            <a:spLocks noGrp="1"/>
          </p:cNvSpPr>
          <p:nvPr>
            <p:ph type="dt" sz="half" idx="10"/>
          </p:nvPr>
        </p:nvSpPr>
        <p:spPr/>
        <p:txBody>
          <a:bodyPr/>
          <a:lstStyle/>
          <a:p>
            <a:fld id="{3E7B085C-4146-4C3B-9548-E6D3E736F496}" type="datetimeFigureOut">
              <a:rPr lang="zh-TW" altLang="en-US" smtClean="0"/>
              <a:t>2025/12/17</a:t>
            </a:fld>
            <a:endParaRPr lang="zh-TW" altLang="en-US"/>
          </a:p>
        </p:txBody>
      </p:sp>
      <p:sp>
        <p:nvSpPr>
          <p:cNvPr id="8" name="頁尾版面配置區 7">
            <a:extLst>
              <a:ext uri="{FF2B5EF4-FFF2-40B4-BE49-F238E27FC236}">
                <a16:creationId xmlns:a16="http://schemas.microsoft.com/office/drawing/2014/main" id="{F9BC8562-C87A-EBFC-5FF7-1F7857AE48B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4D2CDE2-C158-AAB2-3583-64CE307B8D05}"/>
              </a:ext>
            </a:extLst>
          </p:cNvPr>
          <p:cNvSpPr>
            <a:spLocks noGrp="1"/>
          </p:cNvSpPr>
          <p:nvPr>
            <p:ph type="sldNum" sz="quarter" idx="12"/>
          </p:nvPr>
        </p:nvSpPr>
        <p:spPr/>
        <p:txBody>
          <a:body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2789372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212721-1455-E310-F74D-EC4BCFF4BB6D}"/>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0CB4E0C2-9866-F018-BD21-805715475938}"/>
              </a:ext>
            </a:extLst>
          </p:cNvPr>
          <p:cNvSpPr>
            <a:spLocks noGrp="1"/>
          </p:cNvSpPr>
          <p:nvPr>
            <p:ph type="dt" sz="half" idx="10"/>
          </p:nvPr>
        </p:nvSpPr>
        <p:spPr/>
        <p:txBody>
          <a:bodyPr/>
          <a:lstStyle/>
          <a:p>
            <a:fld id="{3E7B085C-4146-4C3B-9548-E6D3E736F496}" type="datetimeFigureOut">
              <a:rPr lang="zh-TW" altLang="en-US" smtClean="0"/>
              <a:t>2025/12/17</a:t>
            </a:fld>
            <a:endParaRPr lang="zh-TW" altLang="en-US"/>
          </a:p>
        </p:txBody>
      </p:sp>
      <p:sp>
        <p:nvSpPr>
          <p:cNvPr id="4" name="頁尾版面配置區 3">
            <a:extLst>
              <a:ext uri="{FF2B5EF4-FFF2-40B4-BE49-F238E27FC236}">
                <a16:creationId xmlns:a16="http://schemas.microsoft.com/office/drawing/2014/main" id="{F0211332-638F-2C60-72D2-64ADDD3C2AF0}"/>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D6B4B6C1-DD66-666B-B427-02082F3A34A7}"/>
              </a:ext>
            </a:extLst>
          </p:cNvPr>
          <p:cNvSpPr>
            <a:spLocks noGrp="1"/>
          </p:cNvSpPr>
          <p:nvPr>
            <p:ph type="sldNum" sz="quarter" idx="12"/>
          </p:nvPr>
        </p:nvSpPr>
        <p:spPr/>
        <p:txBody>
          <a:body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196806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8F3C1D-2D4D-2D57-7637-2F2884C840DF}"/>
              </a:ext>
            </a:extLst>
          </p:cNvPr>
          <p:cNvSpPr>
            <a:spLocks noGrp="1"/>
          </p:cNvSpPr>
          <p:nvPr>
            <p:ph type="dt" sz="half" idx="10"/>
          </p:nvPr>
        </p:nvSpPr>
        <p:spPr/>
        <p:txBody>
          <a:bodyPr/>
          <a:lstStyle/>
          <a:p>
            <a:fld id="{3E7B085C-4146-4C3B-9548-E6D3E736F496}" type="datetimeFigureOut">
              <a:rPr lang="zh-TW" altLang="en-US" smtClean="0"/>
              <a:t>2025/12/17</a:t>
            </a:fld>
            <a:endParaRPr lang="zh-TW" altLang="en-US"/>
          </a:p>
        </p:txBody>
      </p:sp>
      <p:sp>
        <p:nvSpPr>
          <p:cNvPr id="3" name="頁尾版面配置區 2">
            <a:extLst>
              <a:ext uri="{FF2B5EF4-FFF2-40B4-BE49-F238E27FC236}">
                <a16:creationId xmlns:a16="http://schemas.microsoft.com/office/drawing/2014/main" id="{43BFA98D-517E-72F9-CAF4-7AFFFA0A1435}"/>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2DBD9C8-FA13-4DBF-A175-999368A0987A}"/>
              </a:ext>
            </a:extLst>
          </p:cNvPr>
          <p:cNvSpPr>
            <a:spLocks noGrp="1"/>
          </p:cNvSpPr>
          <p:nvPr>
            <p:ph type="sldNum" sz="quarter" idx="12"/>
          </p:nvPr>
        </p:nvSpPr>
        <p:spPr/>
        <p:txBody>
          <a:body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4098739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211897-3494-7262-6FCC-C41F498B129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703C86AD-27CB-7417-F3B2-9362427866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710B544C-7358-373C-DE13-B3A08487FC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EA446A8-7963-A8D7-E730-329F559E7EBB}"/>
              </a:ext>
            </a:extLst>
          </p:cNvPr>
          <p:cNvSpPr>
            <a:spLocks noGrp="1"/>
          </p:cNvSpPr>
          <p:nvPr>
            <p:ph type="dt" sz="half" idx="10"/>
          </p:nvPr>
        </p:nvSpPr>
        <p:spPr/>
        <p:txBody>
          <a:bodyPr/>
          <a:lstStyle/>
          <a:p>
            <a:fld id="{3E7B085C-4146-4C3B-9548-E6D3E736F496}" type="datetimeFigureOut">
              <a:rPr lang="zh-TW" altLang="en-US" smtClean="0"/>
              <a:t>2025/12/17</a:t>
            </a:fld>
            <a:endParaRPr lang="zh-TW" altLang="en-US"/>
          </a:p>
        </p:txBody>
      </p:sp>
      <p:sp>
        <p:nvSpPr>
          <p:cNvPr id="6" name="頁尾版面配置區 5">
            <a:extLst>
              <a:ext uri="{FF2B5EF4-FFF2-40B4-BE49-F238E27FC236}">
                <a16:creationId xmlns:a16="http://schemas.microsoft.com/office/drawing/2014/main" id="{AF18DF07-71E5-D71A-2A1E-CC234123109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DED57C6-B7B0-D99F-2FBF-EB8A4C7A9D7B}"/>
              </a:ext>
            </a:extLst>
          </p:cNvPr>
          <p:cNvSpPr>
            <a:spLocks noGrp="1"/>
          </p:cNvSpPr>
          <p:nvPr>
            <p:ph type="sldNum" sz="quarter" idx="12"/>
          </p:nvPr>
        </p:nvSpPr>
        <p:spPr/>
        <p:txBody>
          <a:body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2936735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63EF19-84CA-C870-FF6D-3583843D5FE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542A2D4D-4E8F-AF62-2433-051072F43F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1A8ED191-E15D-70AD-62FB-ACD7F01329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6CF7C7AB-4C27-35D1-FF21-928666EA0D1E}"/>
              </a:ext>
            </a:extLst>
          </p:cNvPr>
          <p:cNvSpPr>
            <a:spLocks noGrp="1"/>
          </p:cNvSpPr>
          <p:nvPr>
            <p:ph type="dt" sz="half" idx="10"/>
          </p:nvPr>
        </p:nvSpPr>
        <p:spPr/>
        <p:txBody>
          <a:bodyPr/>
          <a:lstStyle/>
          <a:p>
            <a:fld id="{3E7B085C-4146-4C3B-9548-E6D3E736F496}" type="datetimeFigureOut">
              <a:rPr lang="zh-TW" altLang="en-US" smtClean="0"/>
              <a:t>2025/12/17</a:t>
            </a:fld>
            <a:endParaRPr lang="zh-TW" altLang="en-US"/>
          </a:p>
        </p:txBody>
      </p:sp>
      <p:sp>
        <p:nvSpPr>
          <p:cNvPr id="6" name="頁尾版面配置區 5">
            <a:extLst>
              <a:ext uri="{FF2B5EF4-FFF2-40B4-BE49-F238E27FC236}">
                <a16:creationId xmlns:a16="http://schemas.microsoft.com/office/drawing/2014/main" id="{8237300F-BD4E-CD69-5C99-AC1ADE042E2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7D8558C-FE2C-3227-C6D3-46DC538EF5A1}"/>
              </a:ext>
            </a:extLst>
          </p:cNvPr>
          <p:cNvSpPr>
            <a:spLocks noGrp="1"/>
          </p:cNvSpPr>
          <p:nvPr>
            <p:ph type="sldNum" sz="quarter" idx="12"/>
          </p:nvPr>
        </p:nvSpPr>
        <p:spPr/>
        <p:txBody>
          <a:body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2890862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0D56F8-832A-15C5-1DAA-3133083231A6}"/>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EA5EF4E4-C3C7-5985-B0B3-9DCF73AD28D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6491ECE-FE8F-F096-9BDE-544F8C25B475}"/>
              </a:ext>
            </a:extLst>
          </p:cNvPr>
          <p:cNvSpPr>
            <a:spLocks noGrp="1"/>
          </p:cNvSpPr>
          <p:nvPr>
            <p:ph type="dt" sz="half" idx="10"/>
          </p:nvPr>
        </p:nvSpPr>
        <p:spPr/>
        <p:txBody>
          <a:bodyPr/>
          <a:lstStyle/>
          <a:p>
            <a:fld id="{3E7B085C-4146-4C3B-9548-E6D3E736F496}" type="datetimeFigureOut">
              <a:rPr lang="zh-TW" altLang="en-US" smtClean="0"/>
              <a:t>2025/12/17</a:t>
            </a:fld>
            <a:endParaRPr lang="zh-TW" altLang="en-US"/>
          </a:p>
        </p:txBody>
      </p:sp>
      <p:sp>
        <p:nvSpPr>
          <p:cNvPr id="5" name="頁尾版面配置區 4">
            <a:extLst>
              <a:ext uri="{FF2B5EF4-FFF2-40B4-BE49-F238E27FC236}">
                <a16:creationId xmlns:a16="http://schemas.microsoft.com/office/drawing/2014/main" id="{63D675BB-C913-ED6B-CE45-FFE85FE498D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00EE582-52EA-8B09-138C-58AA92F664EC}"/>
              </a:ext>
            </a:extLst>
          </p:cNvPr>
          <p:cNvSpPr>
            <a:spLocks noGrp="1"/>
          </p:cNvSpPr>
          <p:nvPr>
            <p:ph type="sldNum" sz="quarter" idx="12"/>
          </p:nvPr>
        </p:nvSpPr>
        <p:spPr/>
        <p:txBody>
          <a:body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2005156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38BE621-D2E7-A074-C87D-AFF2B04AE05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BC3D7C23-9F4B-ABED-D1F7-C501112A4D6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5DBD81D-C7EA-69A1-7304-99414CE7BC24}"/>
              </a:ext>
            </a:extLst>
          </p:cNvPr>
          <p:cNvSpPr>
            <a:spLocks noGrp="1"/>
          </p:cNvSpPr>
          <p:nvPr>
            <p:ph type="dt" sz="half" idx="10"/>
          </p:nvPr>
        </p:nvSpPr>
        <p:spPr/>
        <p:txBody>
          <a:bodyPr/>
          <a:lstStyle/>
          <a:p>
            <a:fld id="{3E7B085C-4146-4C3B-9548-E6D3E736F496}" type="datetimeFigureOut">
              <a:rPr lang="zh-TW" altLang="en-US" smtClean="0"/>
              <a:t>2025/12/17</a:t>
            </a:fld>
            <a:endParaRPr lang="zh-TW" altLang="en-US"/>
          </a:p>
        </p:txBody>
      </p:sp>
      <p:sp>
        <p:nvSpPr>
          <p:cNvPr id="5" name="頁尾版面配置區 4">
            <a:extLst>
              <a:ext uri="{FF2B5EF4-FFF2-40B4-BE49-F238E27FC236}">
                <a16:creationId xmlns:a16="http://schemas.microsoft.com/office/drawing/2014/main" id="{E6F47733-53BD-B938-525A-5D15C60BB74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7EF1C56-D7F1-6322-06B8-CB8398FB25ED}"/>
              </a:ext>
            </a:extLst>
          </p:cNvPr>
          <p:cNvSpPr>
            <a:spLocks noGrp="1"/>
          </p:cNvSpPr>
          <p:nvPr>
            <p:ph type="sldNum" sz="quarter" idx="12"/>
          </p:nvPr>
        </p:nvSpPr>
        <p:spPr/>
        <p:txBody>
          <a:body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1785702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A1DD7C20-7CD2-743A-0824-A13924BFFC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9D98B830-EDCE-FB5B-2FE0-6B2B904330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A2F12F2-EBD3-DFD7-6414-11F2E235B8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7B085C-4146-4C3B-9548-E6D3E736F496}" type="datetimeFigureOut">
              <a:rPr lang="zh-TW" altLang="en-US" smtClean="0"/>
              <a:t>2025/12/17</a:t>
            </a:fld>
            <a:endParaRPr lang="zh-TW" altLang="en-US"/>
          </a:p>
        </p:txBody>
      </p:sp>
      <p:sp>
        <p:nvSpPr>
          <p:cNvPr id="5" name="頁尾版面配置區 4">
            <a:extLst>
              <a:ext uri="{FF2B5EF4-FFF2-40B4-BE49-F238E27FC236}">
                <a16:creationId xmlns:a16="http://schemas.microsoft.com/office/drawing/2014/main" id="{E0E707F5-7314-BC04-B955-A9885094B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3088B90-2304-74AE-FE3B-56560BD1CB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61BC00-442C-4B50-83F0-2238F2609F96}" type="slidenum">
              <a:rPr lang="zh-TW" altLang="en-US" smtClean="0"/>
              <a:t>‹#›</a:t>
            </a:fld>
            <a:endParaRPr lang="zh-TW" altLang="en-US"/>
          </a:p>
        </p:txBody>
      </p:sp>
    </p:spTree>
    <p:extLst>
      <p:ext uri="{BB962C8B-B14F-4D97-AF65-F5344CB8AC3E}">
        <p14:creationId xmlns:p14="http://schemas.microsoft.com/office/powerpoint/2010/main" val="4020336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0">
            <a:extLst>
              <a:ext uri="{FF2B5EF4-FFF2-40B4-BE49-F238E27FC236}">
                <a16:creationId xmlns:a16="http://schemas.microsoft.com/office/drawing/2014/main" id="{FEC7823C-FDD6-429C-986C-063FDEBF9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2">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endParaRPr lang="en-US"/>
          </a:p>
        </p:txBody>
      </p:sp>
      <p:sp>
        <p:nvSpPr>
          <p:cNvPr id="31" name="Freeform: Shape 24">
            <a:extLst>
              <a:ext uri="{FF2B5EF4-FFF2-40B4-BE49-F238E27FC236}">
                <a16:creationId xmlns:a16="http://schemas.microsoft.com/office/drawing/2014/main" id="{B0651F5E-0457-4065-ACB2-8B81590C2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50098" flipH="1" flipV="1">
            <a:off x="-160709" y="3977842"/>
            <a:ext cx="7507400" cy="3166385"/>
          </a:xfrm>
          <a:custGeom>
            <a:avLst/>
            <a:gdLst>
              <a:gd name="connsiteX0" fmla="*/ 5497485 w 7507400"/>
              <a:gd name="connsiteY0" fmla="*/ 2912009 h 3166385"/>
              <a:gd name="connsiteX1" fmla="*/ 7034681 w 7507400"/>
              <a:gd name="connsiteY1" fmla="*/ 3151263 h 3166385"/>
              <a:gd name="connsiteX2" fmla="*/ 7137723 w 7507400"/>
              <a:gd name="connsiteY2" fmla="*/ 3166385 h 3166385"/>
              <a:gd name="connsiteX3" fmla="*/ 7507400 w 7507400"/>
              <a:gd name="connsiteY3" fmla="*/ 875071 h 3166385"/>
              <a:gd name="connsiteX4" fmla="*/ 2083578 w 7507400"/>
              <a:gd name="connsiteY4" fmla="*/ 0 h 3166385"/>
              <a:gd name="connsiteX5" fmla="*/ 2023081 w 7507400"/>
              <a:gd name="connsiteY5" fmla="*/ 5468 h 3166385"/>
              <a:gd name="connsiteX6" fmla="*/ 1865374 w 7507400"/>
              <a:gd name="connsiteY6" fmla="*/ 76313 h 3166385"/>
              <a:gd name="connsiteX7" fmla="*/ 1634010 w 7507400"/>
              <a:gd name="connsiteY7" fmla="*/ 119359 h 3166385"/>
              <a:gd name="connsiteX8" fmla="*/ 1388186 w 7507400"/>
              <a:gd name="connsiteY8" fmla="*/ 130121 h 3166385"/>
              <a:gd name="connsiteX9" fmla="*/ 1330344 w 7507400"/>
              <a:gd name="connsiteY9" fmla="*/ 198275 h 3166385"/>
              <a:gd name="connsiteX10" fmla="*/ 1406262 w 7507400"/>
              <a:gd name="connsiteY10" fmla="*/ 270018 h 3166385"/>
              <a:gd name="connsiteX11" fmla="*/ 1521942 w 7507400"/>
              <a:gd name="connsiteY11" fmla="*/ 277191 h 3166385"/>
              <a:gd name="connsiteX12" fmla="*/ 2212420 w 7507400"/>
              <a:gd name="connsiteY12" fmla="*/ 295128 h 3166385"/>
              <a:gd name="connsiteX13" fmla="*/ 0 w 7507400"/>
              <a:gd name="connsiteY13" fmla="*/ 452960 h 3166385"/>
              <a:gd name="connsiteX14" fmla="*/ 300051 w 7507400"/>
              <a:gd name="connsiteY14" fmla="*/ 549813 h 3166385"/>
              <a:gd name="connsiteX15" fmla="*/ 401272 w 7507400"/>
              <a:gd name="connsiteY15" fmla="*/ 815258 h 3166385"/>
              <a:gd name="connsiteX16" fmla="*/ 770008 w 7507400"/>
              <a:gd name="connsiteY16" fmla="*/ 965917 h 3166385"/>
              <a:gd name="connsiteX17" fmla="*/ 1008605 w 7507400"/>
              <a:gd name="connsiteY17" fmla="*/ 1019724 h 3166385"/>
              <a:gd name="connsiteX18" fmla="*/ 1554478 w 7507400"/>
              <a:gd name="connsiteY18" fmla="*/ 1098641 h 3166385"/>
              <a:gd name="connsiteX19" fmla="*/ 1634010 w 7507400"/>
              <a:gd name="connsiteY19" fmla="*/ 1227777 h 3166385"/>
              <a:gd name="connsiteX20" fmla="*/ 1702696 w 7507400"/>
              <a:gd name="connsiteY20" fmla="*/ 1371261 h 3166385"/>
              <a:gd name="connsiteX21" fmla="*/ 1847299 w 7507400"/>
              <a:gd name="connsiteY21" fmla="*/ 1464526 h 3166385"/>
              <a:gd name="connsiteX22" fmla="*/ 723015 w 7507400"/>
              <a:gd name="connsiteY22" fmla="*/ 1450177 h 3166385"/>
              <a:gd name="connsiteX23" fmla="*/ 1991901 w 7507400"/>
              <a:gd name="connsiteY23" fmla="*/ 1751495 h 3166385"/>
              <a:gd name="connsiteX24" fmla="*/ 1879835 w 7507400"/>
              <a:gd name="connsiteY24" fmla="*/ 1869870 h 3166385"/>
              <a:gd name="connsiteX25" fmla="*/ 2573927 w 7507400"/>
              <a:gd name="connsiteY25" fmla="*/ 2031290 h 3166385"/>
              <a:gd name="connsiteX26" fmla="*/ 2201575 w 7507400"/>
              <a:gd name="connsiteY26" fmla="*/ 2049225 h 3166385"/>
              <a:gd name="connsiteX27" fmla="*/ 4367000 w 7507400"/>
              <a:gd name="connsiteY27" fmla="*/ 2723602 h 3166385"/>
              <a:gd name="connsiteX28" fmla="*/ 5497485 w 7507400"/>
              <a:gd name="connsiteY28" fmla="*/ 2912009 h 316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07400" h="3166385">
                <a:moveTo>
                  <a:pt x="5497485" y="2912009"/>
                </a:moveTo>
                <a:cubicBezTo>
                  <a:pt x="6033497" y="2998226"/>
                  <a:pt x="6619155" y="3089592"/>
                  <a:pt x="7034681" y="3151263"/>
                </a:cubicBezTo>
                <a:lnTo>
                  <a:pt x="7137723" y="3166385"/>
                </a:lnTo>
                <a:lnTo>
                  <a:pt x="7507400" y="875071"/>
                </a:lnTo>
                <a:lnTo>
                  <a:pt x="2083578" y="0"/>
                </a:lnTo>
                <a:lnTo>
                  <a:pt x="2023081" y="5468"/>
                </a:lnTo>
                <a:cubicBezTo>
                  <a:pt x="1965692" y="12642"/>
                  <a:pt x="1910562" y="27887"/>
                  <a:pt x="1865374" y="76313"/>
                </a:cubicBezTo>
                <a:cubicBezTo>
                  <a:pt x="1796688" y="151642"/>
                  <a:pt x="1724387" y="162404"/>
                  <a:pt x="1634010" y="119359"/>
                </a:cubicBezTo>
                <a:cubicBezTo>
                  <a:pt x="1554478" y="79900"/>
                  <a:pt x="1467718" y="90662"/>
                  <a:pt x="1388186" y="130121"/>
                </a:cubicBezTo>
                <a:cubicBezTo>
                  <a:pt x="1359266" y="144469"/>
                  <a:pt x="1330344" y="162404"/>
                  <a:pt x="1330344" y="198275"/>
                </a:cubicBezTo>
                <a:cubicBezTo>
                  <a:pt x="1330344" y="248495"/>
                  <a:pt x="1366496" y="262843"/>
                  <a:pt x="1406262" y="270018"/>
                </a:cubicBezTo>
                <a:cubicBezTo>
                  <a:pt x="1442412" y="277191"/>
                  <a:pt x="1485792" y="284366"/>
                  <a:pt x="1521942" y="277191"/>
                </a:cubicBezTo>
                <a:cubicBezTo>
                  <a:pt x="1753307" y="237734"/>
                  <a:pt x="1981057" y="302301"/>
                  <a:pt x="2212420" y="295128"/>
                </a:cubicBezTo>
                <a:cubicBezTo>
                  <a:pt x="1485792" y="449373"/>
                  <a:pt x="751934" y="399154"/>
                  <a:pt x="0" y="452960"/>
                </a:cubicBezTo>
                <a:cubicBezTo>
                  <a:pt x="97608" y="560573"/>
                  <a:pt x="224135" y="470896"/>
                  <a:pt x="300051" y="549813"/>
                </a:cubicBezTo>
                <a:cubicBezTo>
                  <a:pt x="227750" y="714820"/>
                  <a:pt x="256671" y="804497"/>
                  <a:pt x="401272" y="815258"/>
                </a:cubicBezTo>
                <a:cubicBezTo>
                  <a:pt x="542261" y="826019"/>
                  <a:pt x="694093" y="768625"/>
                  <a:pt x="770008" y="965917"/>
                </a:cubicBezTo>
                <a:cubicBezTo>
                  <a:pt x="791699" y="1026898"/>
                  <a:pt x="925458" y="1008963"/>
                  <a:pt x="1008605" y="1019724"/>
                </a:cubicBezTo>
                <a:cubicBezTo>
                  <a:pt x="1189357" y="1044833"/>
                  <a:pt x="1380957" y="1019724"/>
                  <a:pt x="1554478" y="1098641"/>
                </a:cubicBezTo>
                <a:cubicBezTo>
                  <a:pt x="1623165" y="1127337"/>
                  <a:pt x="1670160" y="1148860"/>
                  <a:pt x="1634010" y="1227777"/>
                </a:cubicBezTo>
                <a:cubicBezTo>
                  <a:pt x="1597859" y="1310280"/>
                  <a:pt x="1644855" y="1338976"/>
                  <a:pt x="1702696" y="1371261"/>
                </a:cubicBezTo>
                <a:cubicBezTo>
                  <a:pt x="1746077" y="1396370"/>
                  <a:pt x="1811148" y="1389197"/>
                  <a:pt x="1847299" y="1464526"/>
                </a:cubicBezTo>
                <a:cubicBezTo>
                  <a:pt x="1467717" y="1453764"/>
                  <a:pt x="1098981" y="1392783"/>
                  <a:pt x="723015" y="1450177"/>
                </a:cubicBezTo>
                <a:cubicBezTo>
                  <a:pt x="1135131" y="1593662"/>
                  <a:pt x="1587014" y="1586487"/>
                  <a:pt x="1991901" y="1751495"/>
                </a:cubicBezTo>
                <a:cubicBezTo>
                  <a:pt x="1977441" y="1808889"/>
                  <a:pt x="1883449" y="1783778"/>
                  <a:pt x="1879835" y="1869870"/>
                </a:cubicBezTo>
                <a:cubicBezTo>
                  <a:pt x="2093123" y="1959548"/>
                  <a:pt x="2349794" y="1898566"/>
                  <a:pt x="2573927" y="2031290"/>
                </a:cubicBezTo>
                <a:cubicBezTo>
                  <a:pt x="2443785" y="2092271"/>
                  <a:pt x="2324488" y="1991831"/>
                  <a:pt x="2201575" y="2049225"/>
                </a:cubicBezTo>
                <a:cubicBezTo>
                  <a:pt x="2241342" y="2135316"/>
                  <a:pt x="4041644" y="2666208"/>
                  <a:pt x="4367000" y="2723602"/>
                </a:cubicBezTo>
                <a:cubicBezTo>
                  <a:pt x="4615085" y="2767993"/>
                  <a:pt x="5038048" y="2838109"/>
                  <a:pt x="5497485" y="2912009"/>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標題 1">
            <a:extLst>
              <a:ext uri="{FF2B5EF4-FFF2-40B4-BE49-F238E27FC236}">
                <a16:creationId xmlns:a16="http://schemas.microsoft.com/office/drawing/2014/main" id="{E448EF12-36C5-C897-ED37-8E21B613E7E6}"/>
              </a:ext>
            </a:extLst>
          </p:cNvPr>
          <p:cNvSpPr>
            <a:spLocks noGrp="1"/>
          </p:cNvSpPr>
          <p:nvPr>
            <p:ph type="ctrTitle"/>
          </p:nvPr>
        </p:nvSpPr>
        <p:spPr>
          <a:xfrm>
            <a:off x="5751094" y="1058780"/>
            <a:ext cx="5602705" cy="3092116"/>
          </a:xfrm>
        </p:spPr>
        <p:txBody>
          <a:bodyPr anchor="ctr">
            <a:normAutofit/>
          </a:bodyPr>
          <a:lstStyle/>
          <a:p>
            <a:pPr algn="l"/>
            <a:r>
              <a:rPr lang="en-US" altLang="zh-TW" sz="5400" dirty="0"/>
              <a:t>Remote Visual Health Checker for the Elderly</a:t>
            </a:r>
            <a:endParaRPr lang="zh-TW" altLang="en-US" sz="5200" dirty="0"/>
          </a:p>
        </p:txBody>
      </p:sp>
      <p:sp>
        <p:nvSpPr>
          <p:cNvPr id="3" name="副標題 2">
            <a:extLst>
              <a:ext uri="{FF2B5EF4-FFF2-40B4-BE49-F238E27FC236}">
                <a16:creationId xmlns:a16="http://schemas.microsoft.com/office/drawing/2014/main" id="{B44DE99B-FFDD-F71B-4BAE-3D6089CA657B}"/>
              </a:ext>
            </a:extLst>
          </p:cNvPr>
          <p:cNvSpPr>
            <a:spLocks noGrp="1"/>
          </p:cNvSpPr>
          <p:nvPr>
            <p:ph type="subTitle" idx="1"/>
          </p:nvPr>
        </p:nvSpPr>
        <p:spPr>
          <a:xfrm>
            <a:off x="838200" y="5041616"/>
            <a:ext cx="3781926" cy="1246472"/>
          </a:xfrm>
        </p:spPr>
        <p:txBody>
          <a:bodyPr anchor="ctr">
            <a:normAutofit/>
          </a:bodyPr>
          <a:lstStyle/>
          <a:p>
            <a:pPr algn="l"/>
            <a:r>
              <a:rPr lang="en-US" altLang="zh-TW"/>
              <a:t>614410154 </a:t>
            </a:r>
            <a:r>
              <a:rPr lang="zh-TW" altLang="en-US"/>
              <a:t>劉宇綸</a:t>
            </a:r>
            <a:endParaRPr lang="en-US" altLang="zh-TW"/>
          </a:p>
          <a:p>
            <a:pPr algn="l"/>
            <a:r>
              <a:rPr lang="en-US" altLang="zh-TW"/>
              <a:t>614410123 </a:t>
            </a:r>
            <a:r>
              <a:rPr lang="zh-TW" altLang="en-US"/>
              <a:t>湯鈞凱</a:t>
            </a:r>
            <a:endParaRPr lang="zh-TW" altLang="en-US" dirty="0"/>
          </a:p>
        </p:txBody>
      </p:sp>
    </p:spTree>
    <p:extLst>
      <p:ext uri="{BB962C8B-B14F-4D97-AF65-F5344CB8AC3E}">
        <p14:creationId xmlns:p14="http://schemas.microsoft.com/office/powerpoint/2010/main" val="177855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5DE22320-2FBC-16DD-97A2-8CBBDF925E30}"/>
              </a:ext>
            </a:extLst>
          </p:cNvPr>
          <p:cNvSpPr>
            <a:spLocks noGrp="1"/>
          </p:cNvSpPr>
          <p:nvPr>
            <p:ph type="title"/>
          </p:nvPr>
        </p:nvSpPr>
        <p:spPr>
          <a:xfrm>
            <a:off x="1371599" y="294538"/>
            <a:ext cx="9895951" cy="1033669"/>
          </a:xfrm>
        </p:spPr>
        <p:txBody>
          <a:bodyPr>
            <a:normAutofit/>
          </a:bodyPr>
          <a:lstStyle/>
          <a:p>
            <a:pPr algn="ctr"/>
            <a:r>
              <a:rPr lang="en-US" altLang="zh-TW" sz="4000" dirty="0">
                <a:solidFill>
                  <a:srgbClr val="FFFFFF"/>
                </a:solidFill>
              </a:rPr>
              <a:t>Project Objective</a:t>
            </a:r>
            <a:endParaRPr lang="zh-TW" altLang="en-US" sz="4000" dirty="0">
              <a:solidFill>
                <a:srgbClr val="FFFFFF"/>
              </a:solidFill>
            </a:endParaRPr>
          </a:p>
        </p:txBody>
      </p:sp>
      <p:sp>
        <p:nvSpPr>
          <p:cNvPr id="3" name="內容版面配置區 2">
            <a:extLst>
              <a:ext uri="{FF2B5EF4-FFF2-40B4-BE49-F238E27FC236}">
                <a16:creationId xmlns:a16="http://schemas.microsoft.com/office/drawing/2014/main" id="{681AFC37-3CF8-F49B-687B-EB23845B1366}"/>
              </a:ext>
            </a:extLst>
          </p:cNvPr>
          <p:cNvSpPr>
            <a:spLocks noGrp="1"/>
          </p:cNvSpPr>
          <p:nvPr>
            <p:ph idx="1"/>
          </p:nvPr>
        </p:nvSpPr>
        <p:spPr>
          <a:xfrm>
            <a:off x="1371599" y="2318197"/>
            <a:ext cx="9724031" cy="3683358"/>
          </a:xfrm>
        </p:spPr>
        <p:txBody>
          <a:bodyPr anchor="ctr">
            <a:normAutofit/>
          </a:bodyPr>
          <a:lstStyle/>
          <a:p>
            <a:r>
              <a:rPr lang="en-US" altLang="zh-TW" dirty="0"/>
              <a:t>The project aims to develop a remote visual health checker to initially assess the health status of the elderly by analyzing facial and tongue image indicators. The system is composed of multiple Python modules, including the main program </a:t>
            </a:r>
            <a:r>
              <a:rPr lang="en-US" altLang="zh-TW" b="1" dirty="0"/>
              <a:t>wellness_checker.py</a:t>
            </a:r>
            <a:r>
              <a:rPr lang="en-US" altLang="zh-TW" dirty="0"/>
              <a:t> responsible for integrating analysis results , </a:t>
            </a:r>
            <a:r>
              <a:rPr lang="en-US" altLang="zh-TW" b="1" dirty="0"/>
              <a:t>face_analyzer.py</a:t>
            </a:r>
            <a:r>
              <a:rPr lang="en-US" altLang="zh-TW" dirty="0"/>
              <a:t> focusing on facial feature analysis , and </a:t>
            </a:r>
            <a:r>
              <a:rPr lang="en-US" altLang="zh-TW" b="1" dirty="0"/>
              <a:t>tongue_analyzer.py</a:t>
            </a:r>
            <a:r>
              <a:rPr lang="en-US" altLang="zh-TW" dirty="0"/>
              <a:t> used for tongue-related indicator checks.</a:t>
            </a:r>
            <a:endParaRPr lang="zh-TW" altLang="en-US" dirty="0"/>
          </a:p>
        </p:txBody>
      </p:sp>
    </p:spTree>
    <p:extLst>
      <p:ext uri="{BB962C8B-B14F-4D97-AF65-F5344CB8AC3E}">
        <p14:creationId xmlns:p14="http://schemas.microsoft.com/office/powerpoint/2010/main" val="2327878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標題 1">
            <a:extLst>
              <a:ext uri="{FF2B5EF4-FFF2-40B4-BE49-F238E27FC236}">
                <a16:creationId xmlns:a16="http://schemas.microsoft.com/office/drawing/2014/main" id="{CC01EBFC-F1BC-EF58-54B8-F80AA539C4E1}"/>
              </a:ext>
            </a:extLst>
          </p:cNvPr>
          <p:cNvSpPr>
            <a:spLocks noGrp="1"/>
          </p:cNvSpPr>
          <p:nvPr>
            <p:ph type="title"/>
          </p:nvPr>
        </p:nvSpPr>
        <p:spPr>
          <a:xfrm>
            <a:off x="1371597" y="348865"/>
            <a:ext cx="10044023" cy="877729"/>
          </a:xfrm>
        </p:spPr>
        <p:txBody>
          <a:bodyPr anchor="ctr">
            <a:normAutofit/>
          </a:bodyPr>
          <a:lstStyle/>
          <a:p>
            <a:pPr algn="ctr"/>
            <a:r>
              <a:rPr lang="en-US" altLang="zh-TW" sz="4000" dirty="0">
                <a:solidFill>
                  <a:schemeClr val="bg1"/>
                </a:solidFill>
              </a:rPr>
              <a:t>Project Structure</a:t>
            </a:r>
            <a:endParaRPr lang="zh-TW" altLang="en-US" sz="4000" dirty="0">
              <a:solidFill>
                <a:schemeClr val="bg1"/>
              </a:solidFill>
            </a:endParaRPr>
          </a:p>
        </p:txBody>
      </p:sp>
      <p:graphicFrame>
        <p:nvGraphicFramePr>
          <p:cNvPr id="4" name="內容版面配置區 3">
            <a:extLst>
              <a:ext uri="{FF2B5EF4-FFF2-40B4-BE49-F238E27FC236}">
                <a16:creationId xmlns:a16="http://schemas.microsoft.com/office/drawing/2014/main" id="{81A025DB-A8B8-6718-9EB9-99D01A49F150}"/>
              </a:ext>
            </a:extLst>
          </p:cNvPr>
          <p:cNvGraphicFramePr>
            <a:graphicFrameLocks noGrp="1"/>
          </p:cNvGraphicFramePr>
          <p:nvPr>
            <p:ph idx="1"/>
            <p:extLst>
              <p:ext uri="{D42A27DB-BD31-4B8C-83A1-F6EECF244321}">
                <p14:modId xmlns:p14="http://schemas.microsoft.com/office/powerpoint/2010/main" val="3751201008"/>
              </p:ext>
            </p:extLst>
          </p:nvPr>
        </p:nvGraphicFramePr>
        <p:xfrm>
          <a:off x="638978" y="1023682"/>
          <a:ext cx="10920936" cy="5931980"/>
        </p:xfrm>
        <a:graphic>
          <a:graphicData uri="http://schemas.openxmlformats.org/drawingml/2006/table">
            <a:tbl>
              <a:tblPr/>
              <a:tblGrid>
                <a:gridCol w="4612502">
                  <a:extLst>
                    <a:ext uri="{9D8B030D-6E8A-4147-A177-3AD203B41FA5}">
                      <a16:colId xmlns:a16="http://schemas.microsoft.com/office/drawing/2014/main" val="3009174103"/>
                    </a:ext>
                  </a:extLst>
                </a:gridCol>
                <a:gridCol w="6308434">
                  <a:extLst>
                    <a:ext uri="{9D8B030D-6E8A-4147-A177-3AD203B41FA5}">
                      <a16:colId xmlns:a16="http://schemas.microsoft.com/office/drawing/2014/main" val="3964647502"/>
                    </a:ext>
                  </a:extLst>
                </a:gridCol>
              </a:tblGrid>
              <a:tr h="2299038">
                <a:tc>
                  <a:txBody>
                    <a:bodyPr/>
                    <a:lstStyle/>
                    <a:p>
                      <a:pPr algn="l" fontAlgn="ctr">
                        <a:buNone/>
                      </a:pPr>
                      <a:r>
                        <a:rPr lang="en-US" sz="2900" b="0" i="0" u="none" strike="noStrike" dirty="0">
                          <a:effectLst/>
                          <a:latin typeface="Courier New" panose="02070309020205020404" pitchFamily="49" charset="0"/>
                        </a:rPr>
                        <a:t>wellness_checker.py</a:t>
                      </a:r>
                      <a:endParaRPr lang="en-US" altLang="zh-TW" sz="2900" b="0" i="0" u="none" strike="noStrike" dirty="0">
                        <a:effectLst/>
                        <a:latin typeface="Arial" panose="020B0604020202020204" pitchFamily="34" charset="0"/>
                      </a:endParaRPr>
                    </a:p>
                  </a:txBody>
                  <a:tcPr marL="145207" marR="145207" marT="72603" marB="72603" anchor="ctr">
                    <a:lnL>
                      <a:noFill/>
                    </a:lnL>
                    <a:lnR>
                      <a:noFill/>
                    </a:lnR>
                    <a:lnT>
                      <a:noFill/>
                    </a:lnT>
                    <a:lnB>
                      <a:noFill/>
                    </a:lnB>
                    <a:noFill/>
                  </a:tcPr>
                </a:tc>
                <a:tc>
                  <a:txBody>
                    <a:bodyPr/>
                    <a:lstStyle/>
                    <a:p>
                      <a:pPr algn="l" fontAlgn="ctr">
                        <a:buNone/>
                      </a:pPr>
                      <a:r>
                        <a:rPr lang="en-US" altLang="zh-TW" sz="2400" dirty="0"/>
                        <a:t>The main program, handling input/output, integrating analysis results, and generating summaries.</a:t>
                      </a:r>
                      <a:endParaRPr lang="zh-TW" altLang="en-US" sz="2400" b="0" i="0" u="none" strike="noStrike" dirty="0">
                        <a:effectLst/>
                        <a:latin typeface="Arial" panose="020B0604020202020204" pitchFamily="34" charset="0"/>
                      </a:endParaRPr>
                    </a:p>
                  </a:txBody>
                  <a:tcPr marL="145207" marR="145207" marT="72603" marB="72603" anchor="ctr">
                    <a:lnL>
                      <a:noFill/>
                    </a:lnL>
                    <a:lnR>
                      <a:noFill/>
                    </a:lnR>
                    <a:lnT>
                      <a:noFill/>
                    </a:lnT>
                    <a:lnB>
                      <a:noFill/>
                    </a:lnB>
                    <a:noFill/>
                  </a:tcPr>
                </a:tc>
                <a:extLst>
                  <a:ext uri="{0D108BD9-81ED-4DB2-BD59-A6C34878D82A}">
                    <a16:rowId xmlns:a16="http://schemas.microsoft.com/office/drawing/2014/main" val="1910971078"/>
                  </a:ext>
                </a:extLst>
              </a:tr>
              <a:tr h="1178664">
                <a:tc>
                  <a:txBody>
                    <a:bodyPr/>
                    <a:lstStyle/>
                    <a:p>
                      <a:pPr algn="l" fontAlgn="ctr">
                        <a:buNone/>
                      </a:pPr>
                      <a:r>
                        <a:rPr lang="en-US" sz="2900" b="0" i="0" u="none" strike="noStrike" dirty="0">
                          <a:effectLst/>
                          <a:latin typeface="Courier New" panose="02070309020205020404" pitchFamily="49" charset="0"/>
                        </a:rPr>
                        <a:t>face_analyzer.py</a:t>
                      </a:r>
                      <a:endParaRPr lang="en-US" altLang="zh-TW" sz="2900" b="0" i="0" u="none" strike="noStrike" dirty="0">
                        <a:effectLst/>
                        <a:latin typeface="Arial" panose="020B0604020202020204" pitchFamily="34" charset="0"/>
                      </a:endParaRPr>
                    </a:p>
                  </a:txBody>
                  <a:tcPr marL="145207" marR="145207" marT="72603" marB="72603" anchor="ctr">
                    <a:lnL>
                      <a:noFill/>
                    </a:lnL>
                    <a:lnR>
                      <a:noFill/>
                    </a:lnR>
                    <a:lnT>
                      <a:noFill/>
                    </a:lnT>
                    <a:lnB>
                      <a:noFill/>
                    </a:lnB>
                    <a:noFill/>
                  </a:tcPr>
                </a:tc>
                <a:tc>
                  <a:txBody>
                    <a:bodyPr/>
                    <a:lstStyle/>
                    <a:p>
                      <a:pPr algn="l" fontAlgn="ctr">
                        <a:buNone/>
                      </a:pPr>
                      <a:r>
                        <a:rPr lang="en-US" altLang="zh-TW" sz="2400" dirty="0"/>
                        <a:t>Responsible for facial fatigue, skin color, tension, and symmetry analysis.</a:t>
                      </a:r>
                      <a:endParaRPr lang="zh-TW" altLang="en-US" sz="2400" b="0" i="0" u="none" strike="noStrike" dirty="0">
                        <a:effectLst/>
                        <a:latin typeface="Arial" panose="020B0604020202020204" pitchFamily="34" charset="0"/>
                      </a:endParaRPr>
                    </a:p>
                  </a:txBody>
                  <a:tcPr marL="145207" marR="145207" marT="72603" marB="72603" anchor="ctr">
                    <a:lnL>
                      <a:noFill/>
                    </a:lnL>
                    <a:lnR>
                      <a:noFill/>
                    </a:lnR>
                    <a:lnT>
                      <a:noFill/>
                    </a:lnT>
                    <a:lnB>
                      <a:noFill/>
                    </a:lnB>
                    <a:noFill/>
                  </a:tcPr>
                </a:tc>
                <a:extLst>
                  <a:ext uri="{0D108BD9-81ED-4DB2-BD59-A6C34878D82A}">
                    <a16:rowId xmlns:a16="http://schemas.microsoft.com/office/drawing/2014/main" val="2786978862"/>
                  </a:ext>
                </a:extLst>
              </a:tr>
              <a:tr h="700826">
                <a:tc>
                  <a:txBody>
                    <a:bodyPr/>
                    <a:lstStyle/>
                    <a:p>
                      <a:pPr algn="l" fontAlgn="ctr">
                        <a:buNone/>
                      </a:pPr>
                      <a:r>
                        <a:rPr lang="en-US" sz="2900" b="0" i="0" u="none" strike="noStrike" dirty="0">
                          <a:effectLst/>
                          <a:latin typeface="Courier New" panose="02070309020205020404" pitchFamily="49" charset="0"/>
                        </a:rPr>
                        <a:t>tongue_analyzer.py</a:t>
                      </a:r>
                      <a:endParaRPr lang="en-US" altLang="zh-TW" sz="2900" b="0" i="0" u="none" strike="noStrike" dirty="0">
                        <a:effectLst/>
                        <a:latin typeface="Arial" panose="020B0604020202020204" pitchFamily="34" charset="0"/>
                      </a:endParaRPr>
                    </a:p>
                  </a:txBody>
                  <a:tcPr marL="145207" marR="145207" marT="72603" marB="72603" anchor="ctr">
                    <a:lnL>
                      <a:noFill/>
                    </a:lnL>
                    <a:lnR>
                      <a:noFill/>
                    </a:lnR>
                    <a:lnT>
                      <a:noFill/>
                    </a:lnT>
                    <a:lnB>
                      <a:noFill/>
                    </a:lnB>
                    <a:noFill/>
                  </a:tcPr>
                </a:tc>
                <a:tc>
                  <a:txBody>
                    <a:bodyPr/>
                    <a:lstStyle/>
                    <a:p>
                      <a:pPr algn="l" fontAlgn="ctr">
                        <a:buNone/>
                      </a:pPr>
                      <a:r>
                        <a:rPr lang="en-US" altLang="zh-TW" sz="2400" dirty="0"/>
                        <a:t>Responsible for tongue color, coating, and moisture analysis.</a:t>
                      </a:r>
                      <a:endParaRPr lang="zh-TW" altLang="en-US" sz="2400" b="0" i="0" u="none" strike="noStrike" dirty="0">
                        <a:effectLst/>
                        <a:latin typeface="Arial" panose="020B0604020202020204" pitchFamily="34" charset="0"/>
                      </a:endParaRPr>
                    </a:p>
                  </a:txBody>
                  <a:tcPr marL="145207" marR="145207" marT="72603" marB="72603" anchor="ctr">
                    <a:lnL>
                      <a:noFill/>
                    </a:lnL>
                    <a:lnR>
                      <a:noFill/>
                    </a:lnR>
                    <a:lnT>
                      <a:noFill/>
                    </a:lnT>
                    <a:lnB>
                      <a:noFill/>
                    </a:lnB>
                    <a:noFill/>
                  </a:tcPr>
                </a:tc>
                <a:extLst>
                  <a:ext uri="{0D108BD9-81ED-4DB2-BD59-A6C34878D82A}">
                    <a16:rowId xmlns:a16="http://schemas.microsoft.com/office/drawing/2014/main" val="3939158754"/>
                  </a:ext>
                </a:extLst>
              </a:tr>
              <a:tr h="700826">
                <a:tc>
                  <a:txBody>
                    <a:bodyPr/>
                    <a:lstStyle/>
                    <a:p>
                      <a:pPr algn="l" fontAlgn="ctr">
                        <a:buNone/>
                      </a:pPr>
                      <a:r>
                        <a:rPr lang="en-US" sz="2900" b="0" i="0" u="none" strike="noStrike">
                          <a:effectLst/>
                          <a:latin typeface="Courier New" panose="02070309020205020404" pitchFamily="49" charset="0"/>
                        </a:rPr>
                        <a:t>README.md</a:t>
                      </a:r>
                      <a:endParaRPr lang="en-US" altLang="zh-TW" sz="2900" b="0" i="0" u="none" strike="noStrike">
                        <a:effectLst/>
                        <a:latin typeface="Arial" panose="020B0604020202020204" pitchFamily="34" charset="0"/>
                      </a:endParaRPr>
                    </a:p>
                  </a:txBody>
                  <a:tcPr marL="145207" marR="145207" marT="72603" marB="72603" anchor="ctr">
                    <a:lnL>
                      <a:noFill/>
                    </a:lnL>
                    <a:lnR>
                      <a:noFill/>
                    </a:lnR>
                    <a:lnT>
                      <a:noFill/>
                    </a:lnT>
                    <a:lnB>
                      <a:noFill/>
                    </a:lnB>
                    <a:noFill/>
                  </a:tcPr>
                </a:tc>
                <a:tc>
                  <a:txBody>
                    <a:bodyPr/>
                    <a:lstStyle/>
                    <a:p>
                      <a:pPr algn="l" fontAlgn="ctr">
                        <a:buNone/>
                      </a:pPr>
                      <a:r>
                        <a:rPr lang="en-US" altLang="zh-TW" sz="2400" dirty="0"/>
                        <a:t>Project description, installation, and usage guide.</a:t>
                      </a:r>
                      <a:endParaRPr lang="zh-TW" altLang="en-US" sz="2400" b="0" i="0" u="none" strike="noStrike" dirty="0">
                        <a:effectLst/>
                        <a:latin typeface="Arial" panose="020B0604020202020204" pitchFamily="34" charset="0"/>
                      </a:endParaRPr>
                    </a:p>
                  </a:txBody>
                  <a:tcPr marL="145207" marR="145207" marT="72603" marB="72603" anchor="ctr">
                    <a:lnL>
                      <a:noFill/>
                    </a:lnL>
                    <a:lnR>
                      <a:noFill/>
                    </a:lnR>
                    <a:lnT>
                      <a:noFill/>
                    </a:lnT>
                    <a:lnB>
                      <a:noFill/>
                    </a:lnB>
                    <a:noFill/>
                  </a:tcPr>
                </a:tc>
                <a:extLst>
                  <a:ext uri="{0D108BD9-81ED-4DB2-BD59-A6C34878D82A}">
                    <a16:rowId xmlns:a16="http://schemas.microsoft.com/office/drawing/2014/main" val="1384517474"/>
                  </a:ext>
                </a:extLst>
              </a:tr>
              <a:tr h="700826">
                <a:tc>
                  <a:txBody>
                    <a:bodyPr/>
                    <a:lstStyle/>
                    <a:p>
                      <a:pPr algn="l" fontAlgn="ctr">
                        <a:buNone/>
                      </a:pPr>
                      <a:r>
                        <a:rPr lang="en-US" sz="2900" b="0" i="0" u="none" strike="noStrike">
                          <a:effectLst/>
                          <a:latin typeface="Courier New" panose="02070309020205020404" pitchFamily="49" charset="0"/>
                        </a:rPr>
                        <a:t>requirements.txt</a:t>
                      </a:r>
                      <a:endParaRPr lang="en-US" altLang="zh-TW" sz="2900" b="0" i="0" u="none" strike="noStrike">
                        <a:effectLst/>
                        <a:latin typeface="Arial" panose="020B0604020202020204" pitchFamily="34" charset="0"/>
                      </a:endParaRPr>
                    </a:p>
                  </a:txBody>
                  <a:tcPr marL="145207" marR="145207" marT="72603" marB="72603" anchor="ctr">
                    <a:lnL>
                      <a:noFill/>
                    </a:lnL>
                    <a:lnR>
                      <a:noFill/>
                    </a:lnR>
                    <a:lnT>
                      <a:noFill/>
                    </a:lnT>
                    <a:lnB>
                      <a:noFill/>
                    </a:lnB>
                    <a:noFill/>
                  </a:tcPr>
                </a:tc>
                <a:tc>
                  <a:txBody>
                    <a:bodyPr/>
                    <a:lstStyle/>
                    <a:p>
                      <a:pPr algn="l" fontAlgn="ctr">
                        <a:buNone/>
                      </a:pPr>
                      <a:r>
                        <a:rPr lang="en-US" altLang="zh-TW" sz="2400" dirty="0"/>
                        <a:t>Python dependency list.</a:t>
                      </a:r>
                      <a:endParaRPr lang="ja-JP" altLang="en-US" sz="2400" b="0" i="0" u="none" strike="noStrike" dirty="0">
                        <a:effectLst/>
                        <a:latin typeface="Arial" panose="020B0604020202020204" pitchFamily="34" charset="0"/>
                      </a:endParaRPr>
                    </a:p>
                  </a:txBody>
                  <a:tcPr marL="145207" marR="145207" marT="72603" marB="72603" anchor="ctr">
                    <a:lnL>
                      <a:noFill/>
                    </a:lnL>
                    <a:lnR>
                      <a:noFill/>
                    </a:lnR>
                    <a:lnT>
                      <a:noFill/>
                    </a:lnT>
                    <a:lnB>
                      <a:noFill/>
                    </a:lnB>
                    <a:noFill/>
                  </a:tcPr>
                </a:tc>
                <a:extLst>
                  <a:ext uri="{0D108BD9-81ED-4DB2-BD59-A6C34878D82A}">
                    <a16:rowId xmlns:a16="http://schemas.microsoft.com/office/drawing/2014/main" val="313002743"/>
                  </a:ext>
                </a:extLst>
              </a:tr>
            </a:tbl>
          </a:graphicData>
        </a:graphic>
      </p:graphicFrame>
    </p:spTree>
    <p:extLst>
      <p:ext uri="{BB962C8B-B14F-4D97-AF65-F5344CB8AC3E}">
        <p14:creationId xmlns:p14="http://schemas.microsoft.com/office/powerpoint/2010/main" val="1652162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標題 1">
            <a:extLst>
              <a:ext uri="{FF2B5EF4-FFF2-40B4-BE49-F238E27FC236}">
                <a16:creationId xmlns:a16="http://schemas.microsoft.com/office/drawing/2014/main" id="{AA9F5DC4-E676-FCAB-D31F-CF2DC4F834EC}"/>
              </a:ext>
            </a:extLst>
          </p:cNvPr>
          <p:cNvSpPr>
            <a:spLocks noGrp="1"/>
          </p:cNvSpPr>
          <p:nvPr>
            <p:ph type="title"/>
          </p:nvPr>
        </p:nvSpPr>
        <p:spPr>
          <a:xfrm>
            <a:off x="1371597" y="348865"/>
            <a:ext cx="10044023" cy="877729"/>
          </a:xfrm>
        </p:spPr>
        <p:txBody>
          <a:bodyPr anchor="ctr">
            <a:normAutofit/>
          </a:bodyPr>
          <a:lstStyle/>
          <a:p>
            <a:pPr algn="ctr"/>
            <a:r>
              <a:rPr lang="en-US" altLang="zh-TW" sz="4000" dirty="0">
                <a:solidFill>
                  <a:schemeClr val="bg1"/>
                </a:solidFill>
              </a:rPr>
              <a:t>Face Analysis Techniques</a:t>
            </a:r>
            <a:endParaRPr lang="zh-TW" altLang="en-US" sz="4000" dirty="0">
              <a:solidFill>
                <a:schemeClr val="bg1"/>
              </a:solidFill>
            </a:endParaRPr>
          </a:p>
        </p:txBody>
      </p:sp>
      <p:graphicFrame>
        <p:nvGraphicFramePr>
          <p:cNvPr id="6" name="內容版面配置區 5">
            <a:extLst>
              <a:ext uri="{FF2B5EF4-FFF2-40B4-BE49-F238E27FC236}">
                <a16:creationId xmlns:a16="http://schemas.microsoft.com/office/drawing/2014/main" id="{0CE8FD23-C5FF-E558-4845-1AD56D28D855}"/>
              </a:ext>
            </a:extLst>
          </p:cNvPr>
          <p:cNvGraphicFramePr>
            <a:graphicFrameLocks noGrp="1"/>
          </p:cNvGraphicFramePr>
          <p:nvPr>
            <p:ph idx="1"/>
            <p:extLst>
              <p:ext uri="{D42A27DB-BD31-4B8C-83A1-F6EECF244321}">
                <p14:modId xmlns:p14="http://schemas.microsoft.com/office/powerpoint/2010/main" val="1448052555"/>
              </p:ext>
            </p:extLst>
          </p:nvPr>
        </p:nvGraphicFramePr>
        <p:xfrm>
          <a:off x="683173" y="1785250"/>
          <a:ext cx="10732446" cy="4857288"/>
        </p:xfrm>
        <a:graphic>
          <a:graphicData uri="http://schemas.openxmlformats.org/drawingml/2006/table">
            <a:tbl>
              <a:tblPr/>
              <a:tblGrid>
                <a:gridCol w="3577482">
                  <a:extLst>
                    <a:ext uri="{9D8B030D-6E8A-4147-A177-3AD203B41FA5}">
                      <a16:colId xmlns:a16="http://schemas.microsoft.com/office/drawing/2014/main" val="2722618971"/>
                    </a:ext>
                  </a:extLst>
                </a:gridCol>
                <a:gridCol w="3577482">
                  <a:extLst>
                    <a:ext uri="{9D8B030D-6E8A-4147-A177-3AD203B41FA5}">
                      <a16:colId xmlns:a16="http://schemas.microsoft.com/office/drawing/2014/main" val="3000735892"/>
                    </a:ext>
                  </a:extLst>
                </a:gridCol>
                <a:gridCol w="3577482">
                  <a:extLst>
                    <a:ext uri="{9D8B030D-6E8A-4147-A177-3AD203B41FA5}">
                      <a16:colId xmlns:a16="http://schemas.microsoft.com/office/drawing/2014/main" val="2005857453"/>
                    </a:ext>
                  </a:extLst>
                </a:gridCol>
              </a:tblGrid>
              <a:tr h="690870">
                <a:tc>
                  <a:txBody>
                    <a:bodyPr/>
                    <a:lstStyle/>
                    <a:p>
                      <a:pPr rtl="0">
                        <a:buNone/>
                      </a:pPr>
                      <a:r>
                        <a:rPr lang="en-US" sz="1600" b="1">
                          <a:solidFill>
                            <a:srgbClr val="1F1F1F"/>
                          </a:solidFill>
                          <a:effectLst/>
                          <a:latin typeface="Google Sans Text"/>
                        </a:rPr>
                        <a:t>Technology Name </a:t>
                      </a:r>
                      <a:endParaRPr lang="en-US" sz="1600">
                        <a:solidFill>
                          <a:srgbClr val="1F1F1F"/>
                        </a:solidFill>
                        <a:effectLst/>
                        <a:latin typeface="Google Sans Text"/>
                      </a:endParaRP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b="1">
                          <a:solidFill>
                            <a:srgbClr val="1F1F1F"/>
                          </a:solidFill>
                          <a:effectLst/>
                          <a:latin typeface="Google Sans Text"/>
                        </a:rPr>
                        <a:t>Mathematical or Computational Method </a:t>
                      </a:r>
                      <a:endParaRPr lang="en-US" sz="1600">
                        <a:solidFill>
                          <a:srgbClr val="1F1F1F"/>
                        </a:solidFill>
                        <a:effectLst/>
                        <a:latin typeface="Google Sans Text"/>
                      </a:endParaRP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b="1">
                          <a:solidFill>
                            <a:srgbClr val="1F1F1F"/>
                          </a:solidFill>
                          <a:effectLst/>
                          <a:latin typeface="Google Sans Text"/>
                        </a:rPr>
                        <a:t>Application </a:t>
                      </a:r>
                      <a:endParaRPr lang="en-US" sz="1600">
                        <a:solidFill>
                          <a:srgbClr val="1F1F1F"/>
                        </a:solidFill>
                        <a:effectLst/>
                        <a:latin typeface="Google Sans Text"/>
                      </a:endParaRP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85755974"/>
                  </a:ext>
                </a:extLst>
              </a:tr>
              <a:tr h="1211512">
                <a:tc>
                  <a:txBody>
                    <a:bodyPr/>
                    <a:lstStyle/>
                    <a:p>
                      <a:pPr rtl="0">
                        <a:buNone/>
                      </a:pPr>
                      <a:r>
                        <a:rPr lang="en-US" sz="1600" b="1" dirty="0">
                          <a:solidFill>
                            <a:srgbClr val="1F1F1F"/>
                          </a:solidFill>
                          <a:effectLst/>
                          <a:latin typeface="Google Sans Text"/>
                        </a:rPr>
                        <a:t>Eye Aspect Ratio (EAR)</a:t>
                      </a:r>
                      <a:r>
                        <a:rPr lang="en-US" sz="1600" dirty="0">
                          <a:solidFill>
                            <a:srgbClr val="1F1F1F"/>
                          </a:solidFill>
                          <a:effectLst/>
                          <a:latin typeface="Google Sans Text"/>
                        </a:rPr>
                        <a:t> </a:t>
                      </a: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Uses eye landmark points to calculate the ratio of the vertical distance to the horizontal distance of the eye.</a:t>
                      </a: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Fatigue detection, blink rate calculation.</a:t>
                      </a: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6695874"/>
                  </a:ext>
                </a:extLst>
              </a:tr>
              <a:tr h="1477453">
                <a:tc>
                  <a:txBody>
                    <a:bodyPr/>
                    <a:lstStyle/>
                    <a:p>
                      <a:pPr rtl="0">
                        <a:buNone/>
                      </a:pPr>
                      <a:r>
                        <a:rPr lang="en-US" sz="1600" b="1" dirty="0">
                          <a:solidFill>
                            <a:srgbClr val="1F1F1F"/>
                          </a:solidFill>
                          <a:effectLst/>
                          <a:latin typeface="Google Sans Text"/>
                        </a:rPr>
                        <a:t>Color Space Analysis</a:t>
                      </a:r>
                      <a:r>
                        <a:rPr lang="en-US" sz="1600" dirty="0">
                          <a:solidFill>
                            <a:srgbClr val="1F1F1F"/>
                          </a:solidFill>
                          <a:effectLst/>
                          <a:latin typeface="Google Sans Text"/>
                        </a:rPr>
                        <a:t> </a:t>
                      </a: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Converts BGR image to RGB and calculates Saturation and Lightness for specific facial areas to judge whether skin tone is pale or flushed.</a:t>
                      </a: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Skin color change detection.</a:t>
                      </a: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99454684"/>
                  </a:ext>
                </a:extLst>
              </a:tr>
              <a:tr h="1477453">
                <a:tc>
                  <a:txBody>
                    <a:bodyPr/>
                    <a:lstStyle/>
                    <a:p>
                      <a:pPr rtl="0">
                        <a:buNone/>
                      </a:pPr>
                      <a:r>
                        <a:rPr lang="en-US" sz="1600" b="1" dirty="0">
                          <a:solidFill>
                            <a:srgbClr val="1F1F1F"/>
                          </a:solidFill>
                          <a:effectLst/>
                          <a:latin typeface="Google Sans Text"/>
                        </a:rPr>
                        <a:t>Geometric Symmetry</a:t>
                      </a:r>
                      <a:r>
                        <a:rPr lang="en-US" sz="1600" dirty="0">
                          <a:solidFill>
                            <a:srgbClr val="1F1F1F"/>
                          </a:solidFill>
                          <a:effectLst/>
                          <a:latin typeface="Google Sans Text"/>
                        </a:rPr>
                        <a:t> </a:t>
                      </a: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Compares the difference in distance of a set of symmetric points (e.g., corners of the mouth, eyebrows) relative to the midline (e.g., tip of the nose).</a:t>
                      </a: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Facial asymmetry detection (preliminary stroke screening).</a:t>
                      </a:r>
                    </a:p>
                  </a:txBody>
                  <a:tcPr marL="99497" marR="99497" marT="66331" marB="6633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29751692"/>
                  </a:ext>
                </a:extLst>
              </a:tr>
            </a:tbl>
          </a:graphicData>
        </a:graphic>
      </p:graphicFrame>
    </p:spTree>
    <p:extLst>
      <p:ext uri="{BB962C8B-B14F-4D97-AF65-F5344CB8AC3E}">
        <p14:creationId xmlns:p14="http://schemas.microsoft.com/office/powerpoint/2010/main" val="4261576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Isosceles Triangle 52">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Isosceles Triangle 54">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內容版面配置區 4">
            <a:extLst>
              <a:ext uri="{FF2B5EF4-FFF2-40B4-BE49-F238E27FC236}">
                <a16:creationId xmlns:a16="http://schemas.microsoft.com/office/drawing/2014/main" id="{4F907ECF-455E-B57B-1718-19EC4C45B6A7}"/>
              </a:ext>
            </a:extLst>
          </p:cNvPr>
          <p:cNvGraphicFramePr>
            <a:graphicFrameLocks noGrp="1"/>
          </p:cNvGraphicFramePr>
          <p:nvPr>
            <p:ph idx="1"/>
            <p:extLst>
              <p:ext uri="{D42A27DB-BD31-4B8C-83A1-F6EECF244321}">
                <p14:modId xmlns:p14="http://schemas.microsoft.com/office/powerpoint/2010/main" val="256977914"/>
              </p:ext>
            </p:extLst>
          </p:nvPr>
        </p:nvGraphicFramePr>
        <p:xfrm>
          <a:off x="643467" y="1082566"/>
          <a:ext cx="10905068" cy="5262676"/>
        </p:xfrm>
        <a:graphic>
          <a:graphicData uri="http://schemas.openxmlformats.org/drawingml/2006/table">
            <a:tbl>
              <a:tblPr/>
              <a:tblGrid>
                <a:gridCol w="3539807">
                  <a:extLst>
                    <a:ext uri="{9D8B030D-6E8A-4147-A177-3AD203B41FA5}">
                      <a16:colId xmlns:a16="http://schemas.microsoft.com/office/drawing/2014/main" val="926713356"/>
                    </a:ext>
                  </a:extLst>
                </a:gridCol>
                <a:gridCol w="3729262">
                  <a:extLst>
                    <a:ext uri="{9D8B030D-6E8A-4147-A177-3AD203B41FA5}">
                      <a16:colId xmlns:a16="http://schemas.microsoft.com/office/drawing/2014/main" val="1712840588"/>
                    </a:ext>
                  </a:extLst>
                </a:gridCol>
                <a:gridCol w="3635999">
                  <a:extLst>
                    <a:ext uri="{9D8B030D-6E8A-4147-A177-3AD203B41FA5}">
                      <a16:colId xmlns:a16="http://schemas.microsoft.com/office/drawing/2014/main" val="1620328444"/>
                    </a:ext>
                  </a:extLst>
                </a:gridCol>
              </a:tblGrid>
              <a:tr h="484216">
                <a:tc>
                  <a:txBody>
                    <a:bodyPr/>
                    <a:lstStyle/>
                    <a:p>
                      <a:pPr rtl="0">
                        <a:buNone/>
                      </a:pPr>
                      <a:r>
                        <a:rPr lang="en-US" sz="1800" b="1">
                          <a:solidFill>
                            <a:srgbClr val="1F1F1F"/>
                          </a:solidFill>
                          <a:effectLst/>
                          <a:latin typeface="Google Sans Text"/>
                        </a:rPr>
                        <a:t>Indicator </a:t>
                      </a:r>
                      <a:endParaRPr lang="en-US" sz="1800">
                        <a:solidFill>
                          <a:srgbClr val="1F1F1F"/>
                        </a:solidFill>
                        <a:effectLst/>
                        <a:latin typeface="Google Sans Text"/>
                      </a:endParaRP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Analysis Method </a:t>
                      </a:r>
                      <a:endParaRPr lang="en-US" sz="1800">
                        <a:solidFill>
                          <a:srgbClr val="1F1F1F"/>
                        </a:solidFill>
                        <a:effectLst/>
                        <a:latin typeface="Google Sans Text"/>
                      </a:endParaRP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Potential Significance </a:t>
                      </a:r>
                      <a:endParaRPr lang="en-US" sz="1800">
                        <a:solidFill>
                          <a:srgbClr val="1F1F1F"/>
                        </a:solidFill>
                        <a:effectLst/>
                        <a:latin typeface="Google Sans Text"/>
                      </a:endParaRP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75155509"/>
                  </a:ext>
                </a:extLst>
              </a:tr>
              <a:tr h="1336695">
                <a:tc>
                  <a:txBody>
                    <a:bodyPr/>
                    <a:lstStyle/>
                    <a:p>
                      <a:pPr rtl="0">
                        <a:buNone/>
                      </a:pPr>
                      <a:r>
                        <a:rPr lang="en-US" sz="1800" b="1" dirty="0">
                          <a:solidFill>
                            <a:srgbClr val="1F1F1F"/>
                          </a:solidFill>
                          <a:effectLst/>
                          <a:latin typeface="Google Sans Text"/>
                        </a:rPr>
                        <a:t>Fatigue</a:t>
                      </a:r>
                      <a:r>
                        <a:rPr lang="en-US" sz="1800" dirty="0">
                          <a:solidFill>
                            <a:srgbClr val="1F1F1F"/>
                          </a:solidFill>
                          <a:effectLst/>
                          <a:latin typeface="Google Sans Text"/>
                        </a:rPr>
                        <a:t> </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Calculates the Eye Aspect Ratio (EAR). Low EAR (&lt; 0.2) and abnormal blink frequency (&lt; 10 or &gt; 30 times/minute) indicate fatigue.</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Lack of sleep or physical discomfort.</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10190456"/>
                  </a:ext>
                </a:extLst>
              </a:tr>
              <a:tr h="1052535">
                <a:tc>
                  <a:txBody>
                    <a:bodyPr/>
                    <a:lstStyle/>
                    <a:p>
                      <a:pPr rtl="0">
                        <a:buNone/>
                      </a:pPr>
                      <a:r>
                        <a:rPr lang="en-US" sz="1800" b="1" dirty="0">
                          <a:solidFill>
                            <a:srgbClr val="1F1F1F"/>
                          </a:solidFill>
                          <a:effectLst/>
                          <a:latin typeface="Google Sans Text"/>
                        </a:rPr>
                        <a:t>Skin Color Change</a:t>
                      </a:r>
                      <a:r>
                        <a:rPr lang="en-US" sz="1800" dirty="0">
                          <a:solidFill>
                            <a:srgbClr val="1F1F1F"/>
                          </a:solidFill>
                          <a:effectLst/>
                          <a:latin typeface="Google Sans Text"/>
                        </a:rPr>
                        <a:t> </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Analyzes the average RGB values, saturation, and lightness of the cheek and lip areas.</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Detects pallor (high lightness, low saturation) or purple/blue lips (low red, high blue).</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87110240"/>
                  </a:ext>
                </a:extLst>
              </a:tr>
              <a:tr h="1052535">
                <a:tc>
                  <a:txBody>
                    <a:bodyPr/>
                    <a:lstStyle/>
                    <a:p>
                      <a:pPr rtl="0">
                        <a:buNone/>
                      </a:pPr>
                      <a:r>
                        <a:rPr lang="en-US" sz="1800" b="1" dirty="0">
                          <a:solidFill>
                            <a:srgbClr val="1F1F1F"/>
                          </a:solidFill>
                          <a:effectLst/>
                          <a:latin typeface="Google Sans Text"/>
                        </a:rPr>
                        <a:t>Facial Tension (Discomfort)</a:t>
                      </a:r>
                      <a:r>
                        <a:rPr lang="en-US" sz="1800" dirty="0">
                          <a:solidFill>
                            <a:srgbClr val="1F1F1F"/>
                          </a:solidFill>
                          <a:effectLst/>
                          <a:latin typeface="Google Sans Text"/>
                        </a:rPr>
                        <a:t> </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Checks eyebrow position (whether raised) and corners of the mouth (whether strained or asymmetric).</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May indicate discomfort or pain.</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008630"/>
                  </a:ext>
                </a:extLst>
              </a:tr>
              <a:tr h="1336695">
                <a:tc>
                  <a:txBody>
                    <a:bodyPr/>
                    <a:lstStyle/>
                    <a:p>
                      <a:pPr rtl="0">
                        <a:buNone/>
                      </a:pPr>
                      <a:r>
                        <a:rPr lang="en-US" sz="1800" b="1" dirty="0">
                          <a:solidFill>
                            <a:srgbClr val="1F1F1F"/>
                          </a:solidFill>
                          <a:effectLst/>
                          <a:latin typeface="Google Sans Text"/>
                        </a:rPr>
                        <a:t>Facial Symmetry</a:t>
                      </a:r>
                      <a:r>
                        <a:rPr lang="en-US" sz="1800" dirty="0">
                          <a:solidFill>
                            <a:srgbClr val="1F1F1F"/>
                          </a:solidFill>
                          <a:effectLst/>
                          <a:latin typeface="Google Sans Text"/>
                        </a:rPr>
                        <a:t> </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Compares the symmetry of the eyebrows, corners of the mouth, and corners of the eyes relative to the tip of the nose.</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A score &lt; 0.85 is judged as asymmetric, used for preliminary screening of stroke symptoms.</a:t>
                      </a:r>
                    </a:p>
                  </a:txBody>
                  <a:tcPr marL="115428" marR="115428" marT="76951" marB="769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3523377"/>
                  </a:ext>
                </a:extLst>
              </a:tr>
            </a:tbl>
          </a:graphicData>
        </a:graphic>
      </p:graphicFrame>
    </p:spTree>
    <p:extLst>
      <p:ext uri="{BB962C8B-B14F-4D97-AF65-F5344CB8AC3E}">
        <p14:creationId xmlns:p14="http://schemas.microsoft.com/office/powerpoint/2010/main" val="1650069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標題 1">
            <a:extLst>
              <a:ext uri="{FF2B5EF4-FFF2-40B4-BE49-F238E27FC236}">
                <a16:creationId xmlns:a16="http://schemas.microsoft.com/office/drawing/2014/main" id="{1A6AEFF4-F586-2A32-1F8C-18E75B3C71AF}"/>
              </a:ext>
            </a:extLst>
          </p:cNvPr>
          <p:cNvSpPr>
            <a:spLocks noGrp="1"/>
          </p:cNvSpPr>
          <p:nvPr>
            <p:ph type="title"/>
          </p:nvPr>
        </p:nvSpPr>
        <p:spPr>
          <a:xfrm>
            <a:off x="1371597" y="348865"/>
            <a:ext cx="10044023" cy="877729"/>
          </a:xfrm>
        </p:spPr>
        <p:txBody>
          <a:bodyPr anchor="ctr">
            <a:normAutofit/>
          </a:bodyPr>
          <a:lstStyle/>
          <a:p>
            <a:pPr algn="ctr"/>
            <a:r>
              <a:rPr lang="en-US" altLang="zh-TW" sz="4000" dirty="0">
                <a:solidFill>
                  <a:schemeClr val="bg1"/>
                </a:solidFill>
              </a:rPr>
              <a:t>Tongue Analysis Techniques</a:t>
            </a:r>
            <a:endParaRPr lang="zh-TW" altLang="en-US" sz="4000" dirty="0">
              <a:solidFill>
                <a:schemeClr val="bg1"/>
              </a:solidFill>
            </a:endParaRPr>
          </a:p>
        </p:txBody>
      </p:sp>
      <p:graphicFrame>
        <p:nvGraphicFramePr>
          <p:cNvPr id="6" name="內容版面配置區 5">
            <a:extLst>
              <a:ext uri="{FF2B5EF4-FFF2-40B4-BE49-F238E27FC236}">
                <a16:creationId xmlns:a16="http://schemas.microsoft.com/office/drawing/2014/main" id="{6611B410-0FE3-DD00-0917-92BDF0DF1790}"/>
              </a:ext>
            </a:extLst>
          </p:cNvPr>
          <p:cNvGraphicFramePr>
            <a:graphicFrameLocks noGrp="1"/>
          </p:cNvGraphicFramePr>
          <p:nvPr>
            <p:ph idx="1"/>
            <p:extLst>
              <p:ext uri="{D42A27DB-BD31-4B8C-83A1-F6EECF244321}">
                <p14:modId xmlns:p14="http://schemas.microsoft.com/office/powerpoint/2010/main" val="1116723807"/>
              </p:ext>
            </p:extLst>
          </p:nvPr>
        </p:nvGraphicFramePr>
        <p:xfrm>
          <a:off x="809297" y="1806669"/>
          <a:ext cx="10930758" cy="4909441"/>
        </p:xfrm>
        <a:graphic>
          <a:graphicData uri="http://schemas.openxmlformats.org/drawingml/2006/table">
            <a:tbl>
              <a:tblPr/>
              <a:tblGrid>
                <a:gridCol w="3636578">
                  <a:extLst>
                    <a:ext uri="{9D8B030D-6E8A-4147-A177-3AD203B41FA5}">
                      <a16:colId xmlns:a16="http://schemas.microsoft.com/office/drawing/2014/main" val="2812054679"/>
                    </a:ext>
                  </a:extLst>
                </a:gridCol>
                <a:gridCol w="3647090">
                  <a:extLst>
                    <a:ext uri="{9D8B030D-6E8A-4147-A177-3AD203B41FA5}">
                      <a16:colId xmlns:a16="http://schemas.microsoft.com/office/drawing/2014/main" val="3830117067"/>
                    </a:ext>
                  </a:extLst>
                </a:gridCol>
                <a:gridCol w="3647090">
                  <a:extLst>
                    <a:ext uri="{9D8B030D-6E8A-4147-A177-3AD203B41FA5}">
                      <a16:colId xmlns:a16="http://schemas.microsoft.com/office/drawing/2014/main" val="324679105"/>
                    </a:ext>
                  </a:extLst>
                </a:gridCol>
              </a:tblGrid>
              <a:tr h="398791">
                <a:tc>
                  <a:txBody>
                    <a:bodyPr/>
                    <a:lstStyle/>
                    <a:p>
                      <a:pPr rtl="0">
                        <a:buNone/>
                      </a:pPr>
                      <a:r>
                        <a:rPr lang="en-US" sz="1500" b="1">
                          <a:solidFill>
                            <a:srgbClr val="1F1F1F"/>
                          </a:solidFill>
                          <a:effectLst/>
                          <a:latin typeface="Google Sans Text"/>
                        </a:rPr>
                        <a:t>Technology Name </a:t>
                      </a:r>
                      <a:endParaRPr lang="en-US" sz="1500">
                        <a:solidFill>
                          <a:srgbClr val="1F1F1F"/>
                        </a:solidFill>
                        <a:effectLst/>
                        <a:latin typeface="Google Sans Text"/>
                      </a:endParaRP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500" b="1">
                          <a:solidFill>
                            <a:srgbClr val="1F1F1F"/>
                          </a:solidFill>
                          <a:effectLst/>
                          <a:latin typeface="Google Sans Text"/>
                        </a:rPr>
                        <a:t>Image Processing Method </a:t>
                      </a:r>
                      <a:endParaRPr lang="en-US" sz="1500">
                        <a:solidFill>
                          <a:srgbClr val="1F1F1F"/>
                        </a:solidFill>
                        <a:effectLst/>
                        <a:latin typeface="Google Sans Text"/>
                      </a:endParaRP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500" b="1">
                          <a:solidFill>
                            <a:srgbClr val="1F1F1F"/>
                          </a:solidFill>
                          <a:effectLst/>
                          <a:latin typeface="Google Sans Text"/>
                        </a:rPr>
                        <a:t>Application </a:t>
                      </a:r>
                      <a:endParaRPr lang="en-US" sz="1500">
                        <a:solidFill>
                          <a:srgbClr val="1F1F1F"/>
                        </a:solidFill>
                        <a:effectLst/>
                        <a:latin typeface="Google Sans Text"/>
                      </a:endParaRP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08244711"/>
                  </a:ext>
                </a:extLst>
              </a:tr>
              <a:tr h="1170573">
                <a:tc>
                  <a:txBody>
                    <a:bodyPr/>
                    <a:lstStyle/>
                    <a:p>
                      <a:pPr rtl="0">
                        <a:buNone/>
                      </a:pPr>
                      <a:r>
                        <a:rPr lang="en-US" sz="1500" b="1" dirty="0">
                          <a:solidFill>
                            <a:srgbClr val="1F1F1F"/>
                          </a:solidFill>
                          <a:effectLst/>
                          <a:latin typeface="Google Sans Text"/>
                        </a:rPr>
                        <a:t>Region Extraction</a:t>
                      </a:r>
                      <a:r>
                        <a:rPr lang="en-US" sz="1500" dirty="0">
                          <a:solidFill>
                            <a:srgbClr val="1F1F1F"/>
                          </a:solidFill>
                          <a:effectLst/>
                          <a:latin typeface="Google Sans Text"/>
                        </a:rPr>
                        <a:t> </a:t>
                      </a: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Uses lip landmark points to create a polygon mask to separate the Tongue Region of Interest (ROI) from the original image.</a:t>
                      </a: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Tongue color, coating, and moisture analysis.</a:t>
                      </a: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65280873"/>
                  </a:ext>
                </a:extLst>
              </a:tr>
              <a:tr h="1415287">
                <a:tc>
                  <a:txBody>
                    <a:bodyPr/>
                    <a:lstStyle/>
                    <a:p>
                      <a:pPr rtl="0">
                        <a:buNone/>
                      </a:pPr>
                      <a:r>
                        <a:rPr lang="en-US" sz="1500" b="1" dirty="0">
                          <a:solidFill>
                            <a:srgbClr val="1F1F1F"/>
                          </a:solidFill>
                          <a:effectLst/>
                          <a:latin typeface="Google Sans Text"/>
                        </a:rPr>
                        <a:t>Tongue Coating Detection</a:t>
                      </a:r>
                      <a:r>
                        <a:rPr lang="en-US" sz="1500" dirty="0">
                          <a:solidFill>
                            <a:srgbClr val="1F1F1F"/>
                          </a:solidFill>
                          <a:effectLst/>
                          <a:latin typeface="Google Sans Text"/>
                        </a:rPr>
                        <a:t> </a:t>
                      </a: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Analyzes the Tongue ROI's Mean Brightness, Low Saturation, as well as the image's Standard Deviation (Texture Variation) and Edge Density.</a:t>
                      </a: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Judgment of tongue coating thickness.</a:t>
                      </a: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02930341"/>
                  </a:ext>
                </a:extLst>
              </a:tr>
              <a:tr h="1924790">
                <a:tc>
                  <a:txBody>
                    <a:bodyPr/>
                    <a:lstStyle/>
                    <a:p>
                      <a:pPr rtl="0">
                        <a:buNone/>
                      </a:pPr>
                      <a:r>
                        <a:rPr lang="en-US" sz="1500" b="1" dirty="0">
                          <a:solidFill>
                            <a:srgbClr val="1F1F1F"/>
                          </a:solidFill>
                          <a:effectLst/>
                          <a:latin typeface="Google Sans Text"/>
                        </a:rPr>
                        <a:t>Moisture Assessment</a:t>
                      </a:r>
                      <a:r>
                        <a:rPr lang="en-US" sz="1500" dirty="0">
                          <a:solidFill>
                            <a:srgbClr val="1F1F1F"/>
                          </a:solidFill>
                          <a:effectLst/>
                          <a:latin typeface="Google Sans Text"/>
                        </a:rPr>
                        <a:t> </a:t>
                      </a: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Calculates the proportion of high-brightness pixels (&gt; 200) within the ROI and combines it with image contrast. A high proportion and high contrast usually indicate glossiness and moisture.</a:t>
                      </a: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Evaluation of tongue dryness.</a:t>
                      </a:r>
                    </a:p>
                  </a:txBody>
                  <a:tcPr marL="94321" marR="94321" marT="62881" marB="6288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3246452"/>
                  </a:ext>
                </a:extLst>
              </a:tr>
            </a:tbl>
          </a:graphicData>
        </a:graphic>
      </p:graphicFrame>
    </p:spTree>
    <p:extLst>
      <p:ext uri="{BB962C8B-B14F-4D97-AF65-F5344CB8AC3E}">
        <p14:creationId xmlns:p14="http://schemas.microsoft.com/office/powerpoint/2010/main" val="3012794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內容版面配置區 4">
            <a:extLst>
              <a:ext uri="{FF2B5EF4-FFF2-40B4-BE49-F238E27FC236}">
                <a16:creationId xmlns:a16="http://schemas.microsoft.com/office/drawing/2014/main" id="{D60558A4-C12A-7EFE-4C2A-F818856A46D3}"/>
              </a:ext>
            </a:extLst>
          </p:cNvPr>
          <p:cNvGraphicFramePr>
            <a:graphicFrameLocks noGrp="1"/>
          </p:cNvGraphicFramePr>
          <p:nvPr>
            <p:ph idx="1"/>
            <p:extLst>
              <p:ext uri="{D42A27DB-BD31-4B8C-83A1-F6EECF244321}">
                <p14:modId xmlns:p14="http://schemas.microsoft.com/office/powerpoint/2010/main" val="903652201"/>
              </p:ext>
            </p:extLst>
          </p:nvPr>
        </p:nvGraphicFramePr>
        <p:xfrm>
          <a:off x="954864" y="1201175"/>
          <a:ext cx="10282272" cy="5251968"/>
        </p:xfrm>
        <a:graphic>
          <a:graphicData uri="http://schemas.openxmlformats.org/drawingml/2006/table">
            <a:tbl>
              <a:tblPr/>
              <a:tblGrid>
                <a:gridCol w="3427424">
                  <a:extLst>
                    <a:ext uri="{9D8B030D-6E8A-4147-A177-3AD203B41FA5}">
                      <a16:colId xmlns:a16="http://schemas.microsoft.com/office/drawing/2014/main" val="1300614056"/>
                    </a:ext>
                  </a:extLst>
                </a:gridCol>
                <a:gridCol w="3427424">
                  <a:extLst>
                    <a:ext uri="{9D8B030D-6E8A-4147-A177-3AD203B41FA5}">
                      <a16:colId xmlns:a16="http://schemas.microsoft.com/office/drawing/2014/main" val="921490469"/>
                    </a:ext>
                  </a:extLst>
                </a:gridCol>
                <a:gridCol w="3427424">
                  <a:extLst>
                    <a:ext uri="{9D8B030D-6E8A-4147-A177-3AD203B41FA5}">
                      <a16:colId xmlns:a16="http://schemas.microsoft.com/office/drawing/2014/main" val="1875496984"/>
                    </a:ext>
                  </a:extLst>
                </a:gridCol>
              </a:tblGrid>
              <a:tr h="825884">
                <a:tc>
                  <a:txBody>
                    <a:bodyPr/>
                    <a:lstStyle/>
                    <a:p>
                      <a:pPr rtl="0">
                        <a:buNone/>
                      </a:pPr>
                      <a:r>
                        <a:rPr lang="en-US" sz="1800" b="1">
                          <a:solidFill>
                            <a:srgbClr val="1F1F1F"/>
                          </a:solidFill>
                          <a:effectLst/>
                          <a:latin typeface="Google Sans Text"/>
                        </a:rPr>
                        <a:t>Indicator </a:t>
                      </a:r>
                      <a:endParaRPr lang="en-US" sz="1800">
                        <a:solidFill>
                          <a:srgbClr val="1F1F1F"/>
                        </a:solidFill>
                        <a:effectLst/>
                        <a:latin typeface="Google Sans Text"/>
                      </a:endParaRP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Analysis Method </a:t>
                      </a:r>
                      <a:endParaRPr lang="en-US" sz="1800">
                        <a:solidFill>
                          <a:srgbClr val="1F1F1F"/>
                        </a:solidFill>
                        <a:effectLst/>
                        <a:latin typeface="Google Sans Text"/>
                      </a:endParaRP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Classification / Potential Significance </a:t>
                      </a:r>
                      <a:endParaRPr lang="en-US" sz="1800">
                        <a:solidFill>
                          <a:srgbClr val="1F1F1F"/>
                        </a:solidFill>
                        <a:effectLst/>
                        <a:latin typeface="Google Sans Text"/>
                      </a:endParaRP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59662973"/>
                  </a:ext>
                </a:extLst>
              </a:tr>
              <a:tr h="1150623">
                <a:tc>
                  <a:txBody>
                    <a:bodyPr/>
                    <a:lstStyle/>
                    <a:p>
                      <a:pPr rtl="0">
                        <a:buNone/>
                      </a:pPr>
                      <a:r>
                        <a:rPr lang="en-US" sz="1800" b="1" dirty="0">
                          <a:solidFill>
                            <a:srgbClr val="1F1F1F"/>
                          </a:solidFill>
                          <a:effectLst/>
                          <a:latin typeface="Google Sans Text"/>
                        </a:rPr>
                        <a:t>Tongue Coating Color</a:t>
                      </a:r>
                      <a:r>
                        <a:rPr lang="en-US" sz="1800" dirty="0">
                          <a:solidFill>
                            <a:srgbClr val="1F1F1F"/>
                          </a:solidFill>
                          <a:effectLst/>
                          <a:latin typeface="Google Sans Text"/>
                        </a:rPr>
                        <a:t> </a:t>
                      </a: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Analyzes the average RGB values, saturation, and lightness of the tongue region.</a:t>
                      </a: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Differentiates among Normal, Pale, Red, or Purple. Pale and Purple are flagged as abnormal.</a:t>
                      </a: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12168539"/>
                  </a:ext>
                </a:extLst>
              </a:tr>
              <a:tr h="1475361">
                <a:tc>
                  <a:txBody>
                    <a:bodyPr/>
                    <a:lstStyle/>
                    <a:p>
                      <a:pPr rtl="0">
                        <a:buNone/>
                      </a:pPr>
                      <a:r>
                        <a:rPr lang="en-US" sz="1800" b="1" dirty="0">
                          <a:solidFill>
                            <a:srgbClr val="1F1F1F"/>
                          </a:solidFill>
                          <a:effectLst/>
                          <a:latin typeface="Google Sans Text"/>
                        </a:rPr>
                        <a:t>Tongue Coating Thickness</a:t>
                      </a:r>
                      <a:r>
                        <a:rPr lang="en-US" sz="1800" dirty="0">
                          <a:solidFill>
                            <a:srgbClr val="1F1F1F"/>
                          </a:solidFill>
                          <a:effectLst/>
                          <a:latin typeface="Google Sans Text"/>
                        </a:rPr>
                        <a:t> </a:t>
                      </a: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Assesses the coating score based on Brightness, Saturation, and Texture Variation (Standard Deviation).</a:t>
                      </a: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Classified as None, Thin, Moderate, or Thick.</a:t>
                      </a: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71339145"/>
                  </a:ext>
                </a:extLst>
              </a:tr>
              <a:tr h="1800100">
                <a:tc>
                  <a:txBody>
                    <a:bodyPr/>
                    <a:lstStyle/>
                    <a:p>
                      <a:pPr rtl="0">
                        <a:buNone/>
                      </a:pPr>
                      <a:r>
                        <a:rPr lang="en-US" sz="1800" b="1" dirty="0">
                          <a:solidFill>
                            <a:srgbClr val="1F1F1F"/>
                          </a:solidFill>
                          <a:effectLst/>
                          <a:latin typeface="Google Sans Text"/>
                        </a:rPr>
                        <a:t>Moisture</a:t>
                      </a:r>
                      <a:r>
                        <a:rPr lang="en-US" sz="1800" dirty="0">
                          <a:solidFill>
                            <a:srgbClr val="1F1F1F"/>
                          </a:solidFill>
                          <a:effectLst/>
                          <a:latin typeface="Google Sans Text"/>
                        </a:rPr>
                        <a:t> </a:t>
                      </a: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Evaluates the Glossiness of the tongue surface by calculating the moisture score through the proportion of high-brightness pixels and contrast.</a:t>
                      </a: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Classified as Moist, Moderate, or Dry. A score below 0.3 is detected as Dry.</a:t>
                      </a:r>
                    </a:p>
                  </a:txBody>
                  <a:tcPr marL="111764" marR="111764" marT="74509" marB="7450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4643254"/>
                  </a:ext>
                </a:extLst>
              </a:tr>
            </a:tbl>
          </a:graphicData>
        </a:graphic>
      </p:graphicFrame>
    </p:spTree>
    <p:extLst>
      <p:ext uri="{BB962C8B-B14F-4D97-AF65-F5344CB8AC3E}">
        <p14:creationId xmlns:p14="http://schemas.microsoft.com/office/powerpoint/2010/main" val="87754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220B8A82-674D-90E9-3E14-CED3A3A61424}"/>
              </a:ext>
            </a:extLst>
          </p:cNvPr>
          <p:cNvSpPr>
            <a:spLocks noGrp="1"/>
          </p:cNvSpPr>
          <p:nvPr>
            <p:ph type="title"/>
          </p:nvPr>
        </p:nvSpPr>
        <p:spPr>
          <a:xfrm>
            <a:off x="1043631" y="809898"/>
            <a:ext cx="10173010" cy="1554480"/>
          </a:xfrm>
        </p:spPr>
        <p:txBody>
          <a:bodyPr anchor="ctr">
            <a:normAutofit/>
          </a:bodyPr>
          <a:lstStyle/>
          <a:p>
            <a:pPr algn="ctr"/>
            <a:r>
              <a:rPr lang="en-US" altLang="zh-TW" sz="4800" dirty="0"/>
              <a:t>Health Summary and Output</a:t>
            </a:r>
            <a:endParaRPr lang="zh-TW" altLang="en-US" sz="4800" dirty="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內容版面配置區 2">
            <a:extLst>
              <a:ext uri="{FF2B5EF4-FFF2-40B4-BE49-F238E27FC236}">
                <a16:creationId xmlns:a16="http://schemas.microsoft.com/office/drawing/2014/main" id="{F1331E28-44EF-6E5A-83DA-CD8417CEE0DC}"/>
              </a:ext>
            </a:extLst>
          </p:cNvPr>
          <p:cNvGraphicFramePr>
            <a:graphicFrameLocks noGrp="1"/>
          </p:cNvGraphicFramePr>
          <p:nvPr>
            <p:ph idx="1"/>
            <p:extLst>
              <p:ext uri="{D42A27DB-BD31-4B8C-83A1-F6EECF244321}">
                <p14:modId xmlns:p14="http://schemas.microsoft.com/office/powerpoint/2010/main" val="3541807019"/>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1525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標題 1">
            <a:extLst>
              <a:ext uri="{FF2B5EF4-FFF2-40B4-BE49-F238E27FC236}">
                <a16:creationId xmlns:a16="http://schemas.microsoft.com/office/drawing/2014/main" id="{F60FC507-FD46-EEF8-A5F4-E7C76270B5F2}"/>
              </a:ext>
            </a:extLst>
          </p:cNvPr>
          <p:cNvSpPr>
            <a:spLocks noGrp="1"/>
          </p:cNvSpPr>
          <p:nvPr>
            <p:ph type="title"/>
          </p:nvPr>
        </p:nvSpPr>
        <p:spPr>
          <a:xfrm>
            <a:off x="660041" y="2767106"/>
            <a:ext cx="2880828" cy="3071906"/>
          </a:xfrm>
        </p:spPr>
        <p:txBody>
          <a:bodyPr vert="horz" lIns="91440" tIns="45720" rIns="91440" bIns="45720" rtlCol="0" anchor="t">
            <a:normAutofit/>
          </a:bodyPr>
          <a:lstStyle/>
          <a:p>
            <a:pPr algn="ctr"/>
            <a:r>
              <a:rPr lang="en-US" altLang="zh-TW" sz="6600" dirty="0">
                <a:solidFill>
                  <a:schemeClr val="bg1"/>
                </a:solidFill>
              </a:rPr>
              <a:t>Results</a:t>
            </a:r>
            <a:endParaRPr lang="zh-TW" altLang="en-US" sz="6600" kern="1200" dirty="0">
              <a:solidFill>
                <a:schemeClr val="bg1"/>
              </a:solidFill>
              <a:latin typeface="+mj-lt"/>
              <a:ea typeface="+mj-ea"/>
              <a:cs typeface="+mj-cs"/>
            </a:endParaRPr>
          </a:p>
        </p:txBody>
      </p:sp>
      <p:pic>
        <p:nvPicPr>
          <p:cNvPr id="9" name="內容版面配置區 8" descr="一張含有 人的臉孔, 人員, 文字, 牆 的圖片&#10;&#10;AI 產生的內容可能不正確。">
            <a:extLst>
              <a:ext uri="{FF2B5EF4-FFF2-40B4-BE49-F238E27FC236}">
                <a16:creationId xmlns:a16="http://schemas.microsoft.com/office/drawing/2014/main" id="{29524362-6256-C8C3-B51C-DE5DE9634E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2428" y="520636"/>
            <a:ext cx="7225748" cy="5816727"/>
          </a:xfrm>
          <a:prstGeom prst="rect">
            <a:avLst/>
          </a:prstGeom>
        </p:spPr>
      </p:pic>
    </p:spTree>
    <p:extLst>
      <p:ext uri="{BB962C8B-B14F-4D97-AF65-F5344CB8AC3E}">
        <p14:creationId xmlns:p14="http://schemas.microsoft.com/office/powerpoint/2010/main" val="273897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EA65F03A-D53B-9A97-9DF6-7E4CEAE1198A}"/>
              </a:ext>
            </a:extLst>
          </p:cNvPr>
          <p:cNvSpPr>
            <a:spLocks noGrp="1"/>
          </p:cNvSpPr>
          <p:nvPr>
            <p:ph type="title"/>
          </p:nvPr>
        </p:nvSpPr>
        <p:spPr>
          <a:xfrm>
            <a:off x="1371599" y="294538"/>
            <a:ext cx="9895951" cy="1033669"/>
          </a:xfrm>
        </p:spPr>
        <p:txBody>
          <a:bodyPr>
            <a:normAutofit/>
          </a:bodyPr>
          <a:lstStyle/>
          <a:p>
            <a:pPr algn="ctr"/>
            <a:r>
              <a:rPr lang="en-US" altLang="zh-TW" sz="4000" dirty="0">
                <a:solidFill>
                  <a:schemeClr val="bg1"/>
                </a:solidFill>
              </a:rPr>
              <a:t>Python Libraries</a:t>
            </a:r>
            <a:endParaRPr lang="zh-TW" altLang="en-US" sz="4000" dirty="0">
              <a:solidFill>
                <a:schemeClr val="bg1"/>
              </a:solidFill>
            </a:endParaRPr>
          </a:p>
        </p:txBody>
      </p:sp>
      <p:sp>
        <p:nvSpPr>
          <p:cNvPr id="17" name="內容版面配置區 2">
            <a:extLst>
              <a:ext uri="{FF2B5EF4-FFF2-40B4-BE49-F238E27FC236}">
                <a16:creationId xmlns:a16="http://schemas.microsoft.com/office/drawing/2014/main" id="{31364714-6DE9-1B8C-5D70-77B2E15AA19C}"/>
              </a:ext>
            </a:extLst>
          </p:cNvPr>
          <p:cNvSpPr>
            <a:spLocks noGrp="1"/>
          </p:cNvSpPr>
          <p:nvPr>
            <p:ph idx="1"/>
          </p:nvPr>
        </p:nvSpPr>
        <p:spPr>
          <a:xfrm>
            <a:off x="1371599" y="2318197"/>
            <a:ext cx="9724031" cy="3683358"/>
          </a:xfrm>
        </p:spPr>
        <p:txBody>
          <a:bodyPr anchor="ctr">
            <a:normAutofit/>
          </a:bodyPr>
          <a:lstStyle/>
          <a:p>
            <a:r>
              <a:rPr lang="en-US" altLang="zh-TW" sz="3200" dirty="0" err="1"/>
              <a:t>opencv</a:t>
            </a:r>
            <a:r>
              <a:rPr lang="en-US" altLang="zh-TW" sz="3200" dirty="0"/>
              <a:t>-python&gt;=4.8.0</a:t>
            </a:r>
          </a:p>
          <a:p>
            <a:r>
              <a:rPr lang="en-US" altLang="zh-TW" sz="3200" dirty="0" err="1"/>
              <a:t>mediapipe</a:t>
            </a:r>
            <a:r>
              <a:rPr lang="en-US" altLang="zh-TW" sz="3200" dirty="0"/>
              <a:t>&gt;=0.10.0 </a:t>
            </a:r>
          </a:p>
          <a:p>
            <a:r>
              <a:rPr lang="en-US" altLang="zh-TW" sz="3200" dirty="0" err="1"/>
              <a:t>numpy</a:t>
            </a:r>
            <a:r>
              <a:rPr lang="en-US" altLang="zh-TW" sz="3200" dirty="0"/>
              <a:t>&gt;=1.24.0 </a:t>
            </a:r>
          </a:p>
          <a:p>
            <a:r>
              <a:rPr lang="en-US" altLang="zh-TW" sz="3200" dirty="0"/>
              <a:t>Pillow&gt;=10.0.0</a:t>
            </a:r>
          </a:p>
          <a:p>
            <a:r>
              <a:rPr lang="en-US" altLang="zh-TW" sz="3200" dirty="0" err="1"/>
              <a:t>graphviz</a:t>
            </a:r>
            <a:r>
              <a:rPr lang="en-US" altLang="zh-TW" sz="3200" dirty="0"/>
              <a:t>&gt;=0.20.0</a:t>
            </a:r>
            <a:endParaRPr lang="zh-TW" altLang="en-US" sz="3200" dirty="0"/>
          </a:p>
        </p:txBody>
      </p:sp>
    </p:spTree>
    <p:extLst>
      <p:ext uri="{BB962C8B-B14F-4D97-AF65-F5344CB8AC3E}">
        <p14:creationId xmlns:p14="http://schemas.microsoft.com/office/powerpoint/2010/main" val="1927484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134706B-150F-487B-B4FB-34C10219C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5FD23E7-C75D-4AFA-A4D4-BE55581109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Graphic 1">
            <a:extLst>
              <a:ext uri="{FF2B5EF4-FFF2-40B4-BE49-F238E27FC236}">
                <a16:creationId xmlns:a16="http://schemas.microsoft.com/office/drawing/2014/main" id="{D6705569-F545-4F47-A260-A9202826E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w="32707" cap="flat">
            <a:noFill/>
            <a:prstDash val="solid"/>
            <a:miter/>
          </a:ln>
        </p:spPr>
        <p:txBody>
          <a:bodyPr rtlCol="0" anchor="ctr"/>
          <a:lstStyle/>
          <a:p>
            <a:endParaRPr lang="en-US" dirty="0"/>
          </a:p>
        </p:txBody>
      </p:sp>
      <p:sp>
        <p:nvSpPr>
          <p:cNvPr id="2" name="標題 1">
            <a:extLst>
              <a:ext uri="{FF2B5EF4-FFF2-40B4-BE49-F238E27FC236}">
                <a16:creationId xmlns:a16="http://schemas.microsoft.com/office/drawing/2014/main" id="{0D66B80D-E803-1C01-79EA-22D0148AA03B}"/>
              </a:ext>
            </a:extLst>
          </p:cNvPr>
          <p:cNvSpPr>
            <a:spLocks noGrp="1"/>
          </p:cNvSpPr>
          <p:nvPr>
            <p:ph type="title"/>
          </p:nvPr>
        </p:nvSpPr>
        <p:spPr>
          <a:xfrm>
            <a:off x="3325473" y="1998925"/>
            <a:ext cx="5541054" cy="2149412"/>
          </a:xfrm>
        </p:spPr>
        <p:txBody>
          <a:bodyPr vert="horz" lIns="91440" tIns="45720" rIns="91440" bIns="45720" rtlCol="0" anchor="b">
            <a:normAutofit/>
          </a:bodyPr>
          <a:lstStyle/>
          <a:p>
            <a:pPr algn="ctr"/>
            <a:r>
              <a:rPr lang="en-US" altLang="zh-TW" sz="4800" b="1" kern="1200">
                <a:solidFill>
                  <a:schemeClr val="tx1"/>
                </a:solidFill>
                <a:latin typeface="+mj-lt"/>
                <a:ea typeface="+mj-ea"/>
                <a:cs typeface="+mj-cs"/>
                <a:sym typeface="Trebuchet MS"/>
              </a:rPr>
              <a:t>THANKS    FOR   Listening</a:t>
            </a:r>
            <a:br>
              <a:rPr lang="en-US" altLang="zh-TW" sz="4800" kern="1200">
                <a:solidFill>
                  <a:schemeClr val="tx1"/>
                </a:solidFill>
                <a:latin typeface="+mj-lt"/>
                <a:ea typeface="+mj-ea"/>
                <a:cs typeface="+mj-cs"/>
              </a:rPr>
            </a:br>
            <a:endParaRPr lang="en-US" altLang="zh-TW" sz="4800" kern="1200">
              <a:solidFill>
                <a:schemeClr val="tx1"/>
              </a:solidFill>
              <a:latin typeface="+mj-lt"/>
              <a:ea typeface="+mj-ea"/>
              <a:cs typeface="+mj-cs"/>
            </a:endParaRPr>
          </a:p>
        </p:txBody>
      </p:sp>
    </p:spTree>
    <p:extLst>
      <p:ext uri="{BB962C8B-B14F-4D97-AF65-F5344CB8AC3E}">
        <p14:creationId xmlns:p14="http://schemas.microsoft.com/office/powerpoint/2010/main" val="241108727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316</TotalTime>
  <Words>1008</Words>
  <Application>Microsoft Office PowerPoint</Application>
  <PresentationFormat>寬螢幕</PresentationFormat>
  <Paragraphs>102</Paragraphs>
  <Slides>11</Slides>
  <Notes>7</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11</vt:i4>
      </vt:variant>
    </vt:vector>
  </HeadingPairs>
  <TitlesOfParts>
    <vt:vector size="17" baseType="lpstr">
      <vt:lpstr>Google Sans Text</vt:lpstr>
      <vt:lpstr>Aptos</vt:lpstr>
      <vt:lpstr>Aptos Display</vt:lpstr>
      <vt:lpstr>Arial</vt:lpstr>
      <vt:lpstr>Courier New</vt:lpstr>
      <vt:lpstr>Office 佈景主題</vt:lpstr>
      <vt:lpstr>Remote Visual Health Checker for the Elderly</vt:lpstr>
      <vt:lpstr>Project Objective</vt:lpstr>
      <vt:lpstr>Project Structure</vt:lpstr>
      <vt:lpstr>Face Analysis Techniques</vt:lpstr>
      <vt:lpstr>PowerPoint 簡報</vt:lpstr>
      <vt:lpstr>Tongue Analysis Techniques</vt:lpstr>
      <vt:lpstr>PowerPoint 簡報</vt:lpstr>
      <vt:lpstr>Health Summary and Output</vt:lpstr>
      <vt:lpstr>Results</vt:lpstr>
      <vt:lpstr>Python Libraries</vt:lpstr>
      <vt:lpstr>THANKS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鈞凱 湯</dc:creator>
  <cp:lastModifiedBy>鈞凱 湯</cp:lastModifiedBy>
  <cp:revision>30</cp:revision>
  <dcterms:created xsi:type="dcterms:W3CDTF">2025-12-13T21:24:09Z</dcterms:created>
  <dcterms:modified xsi:type="dcterms:W3CDTF">2025-12-17T04:46:55Z</dcterms:modified>
</cp:coreProperties>
</file>